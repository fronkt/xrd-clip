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Hi, I'm Frank Cai from Purdue. This talk is about identifying which crystal form of a molecule you have, straight from its powder X-ray diffraction pattern, including the hard case where the candidates are the same molecule.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Polymorphs are the same molecule packed differently. This is ROY, a molecule with many polymorphs named by their colour. The yellow and orange-plate forms have the same formula and the same space group; the molecule just twists differently, 105 versus 46 degrees, and packs differently. Their simulated powder patterns, at the bottom, are clearly different. That is the only signal that separates them. This matters in practice: ritonavir's marketed form was withdrawn when a less soluble polymorph appeared in manufacturing. (Structures: CSD QAXMEH01 and QAXMEH03.)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The usual tool is search-match: correlate against a library. Recent contrastive models such as XCCP and XtalNet do learned retrieval, but on inorganic crystals and MOFs, and they lean on composition and symmetry; XCCP reports 93% space-group ID. For polymorphs those cues are gone. So the task here is within-family retrieval: the query is one polymorph's pattern, the library is only its siblings. Anything that uses only formula or symmetry scores 0.380, the family-size chance rate.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Two encoders map into one embedding space. The pattern side is a 1D residual CNN: a diffractogram is a 1D signal where local peak shape carries the physics. The structure side is a permutation-invariant Transformer over atoms with a lattice token, because peak positions are set by the unit cell. Training uses the CLIP symmetric InfoNCE loss: each pattern should match its own structure and not the other structures in the batch. At test time we rank structures by cosine similarity.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Two design choices. First, augmentation: every training pattern is re-simulated through a randomized instrument model with displacement, strain, broadening, texture, background and noise, so the query looks like a real measurement and not like the clean library entry. Second, polymorph-aware training: sibling polymorphs are put in the same batch as hard negatives, and whole families go into a single split, so no sibling of a test structure is ever seen in training. I checked: zero of 10,795 families leak across splits.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On clean patterns the model picks the right polymorph 56% of the time against a 38% chance floor, a 1.48x lift, and it's in the top two 84% of the time. One caveat up front: on a perfectly clean query, plain correlation gets 100% because the query is literally the library entry. That's not a realistic setting. What matters is what happens when the measured pattern carries real instrument effects.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 Here we degrade the query one dial at a time; the library stays clean. Blue is our model, red is full-profile correlation, green is peak-list matching, dashed is chance. Under sample displacement and lattice strain, which are the shifts that break search-match in real labs, the model is flat while correlation drops below chance. Panel c is the honest limitation: severe Scherrer broadening keeps peak positions, and correlation handles that better than we 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 With everything applied at once (panel a), classical methods look decent. But that's partly luck: sample displacement and thermal expansion shift peaks in opposite directions, so they can cancel. Panel b is the control: same shift sizes, only the relative sign flipped. When the shifts add, correlation and peak-list both drop to chance, while the model barely moves. In a real sample you don't know in advance which case you're in, and roughly half the time it's the bad one. The model's invariance doesn't depend on the 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 Two ablations answer where this comes from. Remove only the shift and strain augmentation: nothing changes, so shift invariance comes from the architecture. Remove all augmentation: the model still works on clean and pure-shift queries, but falls to exactly chance once broadening, texture, noise and background appear. That answers the obvious objection, 'isn't this just memorizing simulated fingerprints?' If it were, the clean-trained twin would still work. It doesn't, so the augmentation is teaching real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As a first look at transfer, I took real published powder patterns. For ibuprofen, a real pattern the model never saw puts the true structure in the top 6% of a 30,000-structure library, which is good but not top-1. This is a spot check, not a benchmark, and most of the evaluation is still on the simulator. The model also concedes heavy broadening, and 56% top-1 leaves room to improve.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To sum up: a new polymorph retrieval task where formula and symmetry don't help; a model that resolves polymorphs above chance and stays robust where classical search-match fails; and ablations that show why. Next, the same retriever could rank candidates for PXRD-conditioned crystal structure generation. Thank you,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97280" cy="82296"/>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17320"/>
            <a:ext cx="10789920" cy="2377440"/>
          </a:xfrm>
          <a:prstGeom prst="rect">
            <a:avLst/>
          </a:prstGeom>
          <a:noFill/>
        </p:spPr>
        <p:txBody>
          <a:bodyPr wrap="square" anchor="t" lIns="45720" rIns="45720">
            <a:spAutoFit/>
          </a:bodyPr>
          <a:lstStyle/>
          <a:p>
            <a:pPr algn="l">
              <a:lnSpc>
                <a:spcPct val="100000"/>
              </a:lnSpc>
            </a:pPr>
            <a:r>
              <a:rPr sz="4000" b="1" i="0">
                <a:solidFill>
                  <a:srgbClr val="FFFFFF"/>
                </a:solidFill>
                <a:latin typeface="Arial"/>
              </a:rPr>
              <a:t>Polymorph-Resolving Retrieval</a:t>
            </a:r>
          </a:p>
          <a:p>
            <a:pPr algn="l">
              <a:lnSpc>
                <a:spcPct val="100000"/>
              </a:lnSpc>
            </a:pPr>
            <a:r>
              <a:rPr sz="4000" b="1" i="0">
                <a:solidFill>
                  <a:srgbClr val="FFFFFF"/>
                </a:solidFill>
                <a:latin typeface="Arial"/>
              </a:rPr>
              <a:t>of Molecular Crystals from</a:t>
            </a:r>
          </a:p>
          <a:p>
            <a:pPr algn="l">
              <a:lnSpc>
                <a:spcPct val="100000"/>
              </a:lnSpc>
            </a:pPr>
            <a:r>
              <a:rPr sz="4000" b="1" i="0">
                <a:solidFill>
                  <a:srgbClr val="FFFFFF"/>
                </a:solidFill>
                <a:latin typeface="Arial"/>
              </a:rPr>
              <a:t>Powder X-Ray Diffraction</a:t>
            </a:r>
          </a:p>
        </p:txBody>
      </p:sp>
      <p:sp>
        <p:nvSpPr>
          <p:cNvPr id="5" name="TextBox 4"/>
          <p:cNvSpPr txBox="1"/>
          <p:nvPr/>
        </p:nvSpPr>
        <p:spPr>
          <a:xfrm>
            <a:off x="731520" y="4023360"/>
            <a:ext cx="10789920" cy="548640"/>
          </a:xfrm>
          <a:prstGeom prst="rect">
            <a:avLst/>
          </a:prstGeom>
          <a:noFill/>
        </p:spPr>
        <p:txBody>
          <a:bodyPr wrap="square" anchor="t" lIns="45720" rIns="45720">
            <a:spAutoFit/>
          </a:bodyPr>
          <a:lstStyle/>
          <a:p>
            <a:pPr algn="l">
              <a:lnSpc>
                <a:spcPct val="110000"/>
              </a:lnSpc>
            </a:pPr>
            <a:r>
              <a:rPr sz="2000" b="0" i="0">
                <a:solidFill>
                  <a:srgbClr val="C7D6EA"/>
                </a:solidFill>
                <a:latin typeface="Arial"/>
              </a:rPr>
              <a:t>A contrastive pattern↔structure model that tells same-molecule crystal forms apart</a:t>
            </a:r>
          </a:p>
        </p:txBody>
      </p:sp>
      <p:sp>
        <p:nvSpPr>
          <p:cNvPr id="6" name="TextBox 5"/>
          <p:cNvSpPr txBox="1"/>
          <p:nvPr/>
        </p:nvSpPr>
        <p:spPr>
          <a:xfrm>
            <a:off x="731520" y="4937760"/>
            <a:ext cx="10515600" cy="1097280"/>
          </a:xfrm>
          <a:prstGeom prst="rect">
            <a:avLst/>
          </a:prstGeom>
          <a:noFill/>
        </p:spPr>
        <p:txBody>
          <a:bodyPr wrap="square" anchor="t" lIns="45720" rIns="45720">
            <a:spAutoFit/>
          </a:bodyPr>
          <a:lstStyle/>
          <a:p>
            <a:pPr algn="l">
              <a:lnSpc>
                <a:spcPct val="110000"/>
              </a:lnSpc>
            </a:pPr>
            <a:r>
              <a:rPr sz="2200" b="1" i="0">
                <a:solidFill>
                  <a:srgbClr val="FFFFFF"/>
                </a:solidFill>
                <a:latin typeface="Arial"/>
              </a:rPr>
              <a:t>Frank Cai</a:t>
            </a:r>
          </a:p>
          <a:p>
            <a:pPr algn="l">
              <a:lnSpc>
                <a:spcPct val="110000"/>
              </a:lnSpc>
            </a:pPr>
            <a:r>
              <a:rPr sz="1600" b="0" i="0">
                <a:solidFill>
                  <a:srgbClr val="FFFFFF"/>
                </a:solidFill>
                <a:latin typeface="Arial"/>
              </a:rPr>
              <a:t>Purdue University, West Lafayette, IN  ·  frankyc11223@gmail.com</a:t>
            </a:r>
          </a:p>
        </p:txBody>
      </p:sp>
      <p:sp>
        <p:nvSpPr>
          <p:cNvPr id="7" name="TextBox 6"/>
          <p:cNvSpPr txBox="1"/>
          <p:nvPr/>
        </p:nvSpPr>
        <p:spPr>
          <a:xfrm>
            <a:off x="731520" y="6126480"/>
            <a:ext cx="10515600" cy="365760"/>
          </a:xfrm>
          <a:prstGeom prst="rect">
            <a:avLst/>
          </a:prstGeom>
          <a:noFill/>
        </p:spPr>
        <p:txBody>
          <a:bodyPr wrap="square" anchor="t" lIns="45720" rIns="45720">
            <a:spAutoFit/>
          </a:bodyPr>
          <a:lstStyle/>
          <a:p>
            <a:pPr algn="l">
              <a:lnSpc>
                <a:spcPct val="110000"/>
              </a:lnSpc>
            </a:pPr>
            <a:r>
              <a:rPr sz="1300" b="0" i="0">
                <a:solidFill>
                  <a:srgbClr val="9FB3CE"/>
                </a:solidFill>
                <a:latin typeface="Arial"/>
              </a:rPr>
              <a:t>2026 IEEE MIT Undergraduate Research Technology Conference  ·  Paper ID 69  ·  Track 4A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lIns="45720" rIns="45720">
            <a:spAutoFit/>
          </a:bodyPr>
          <a:lstStyle/>
          <a:p>
            <a:pPr algn="l">
              <a:lnSpc>
                <a:spcPct val="110000"/>
              </a:lnSpc>
            </a:pPr>
            <a:r>
              <a:rPr sz="1400" b="1" i="0">
                <a:solidFill>
                  <a:srgbClr val="1F77B4"/>
                </a:solidFill>
                <a:latin typeface="Arial"/>
              </a:rPr>
              <a:t>THE PROBLEM</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lnSpc>
                <a:spcPct val="110000"/>
              </a:lnSpc>
            </a:pPr>
            <a:r>
              <a:rPr sz="3200" b="1" i="0">
                <a:solidFill>
                  <a:srgbClr val="14243D"/>
                </a:solidFill>
                <a:latin typeface="Arial"/>
              </a:rPr>
              <a:t>Same molecule, different crystal: polymorphs</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lnSpc>
                <a:spcPct val="110000"/>
              </a:lnSpc>
            </a:pPr>
            <a:r>
              <a:rPr sz="1100" b="0" i="0">
                <a:solidFill>
                  <a:srgbClr val="6B7280"/>
                </a:solidFill>
                <a:latin typeface="Arial"/>
              </a:rPr>
              <a:t>Cai · Polymorph-Resolving Retrieval from PXRD · IEEE MIT URTC 2026</a:t>
            </a:r>
          </a:p>
        </p:txBody>
      </p:sp>
      <p:sp>
        <p:nvSpPr>
          <p:cNvPr id="6" name="TextBox 5"/>
          <p:cNvSpPr txBox="1"/>
          <p:nvPr/>
        </p:nvSpPr>
        <p:spPr>
          <a:xfrm>
            <a:off x="10881360" y="6400800"/>
            <a:ext cx="822960" cy="320040"/>
          </a:xfrm>
          <a:prstGeom prst="rect">
            <a:avLst/>
          </a:prstGeom>
          <a:noFill/>
        </p:spPr>
        <p:txBody>
          <a:bodyPr wrap="square" anchor="t" lIns="45720" rIns="45720">
            <a:spAutoFit/>
          </a:bodyPr>
          <a:lstStyle/>
          <a:p>
            <a:pPr algn="r">
              <a:lnSpc>
                <a:spcPct val="110000"/>
              </a:lnSpc>
            </a:pPr>
            <a:r>
              <a:rPr sz="1100" b="0" i="0">
                <a:solidFill>
                  <a:srgbClr val="6B7280"/>
                </a:solidFill>
                <a:latin typeface="Arial"/>
              </a:rPr>
              <a:t>2 / 11</a:t>
            </a:r>
          </a:p>
        </p:txBody>
      </p:sp>
      <p:sp>
        <p:nvSpPr>
          <p:cNvPr id="7" name="TextBox 6"/>
          <p:cNvSpPr txBox="1"/>
          <p:nvPr/>
        </p:nvSpPr>
        <p:spPr>
          <a:xfrm>
            <a:off x="548640" y="1600200"/>
            <a:ext cx="5669280" cy="3566160"/>
          </a:xfrm>
          <a:prstGeom prst="rect">
            <a:avLst/>
          </a:prstGeom>
          <a:noFill/>
        </p:spPr>
        <p:txBody>
          <a:bodyPr wrap="square">
            <a:spAutoFit/>
          </a:bodyPr>
          <a:lstStyle/>
          <a:p>
            <a:pPr>
              <a:spcAft>
                <a:spcPts val="1400"/>
              </a:spcAft>
            </a:pPr>
            <a:r>
              <a:rPr sz="1200">
                <a:solidFill>
                  <a:srgbClr val="1F77B4"/>
                </a:solidFill>
                <a:latin typeface="Arial"/>
              </a:rPr>
              <a:t>■  </a:t>
            </a:r>
            <a:r>
              <a:rPr sz="2000" b="1">
                <a:solidFill>
                  <a:srgbClr val="1F2937"/>
                </a:solidFill>
                <a:latin typeface="Arial"/>
              </a:rPr>
              <a:t>Polymorphs</a:t>
            </a:r>
            <a:r>
              <a:rPr sz="2000" b="0">
                <a:solidFill>
                  <a:srgbClr val="1F2937"/>
                </a:solidFill>
                <a:latin typeface="Arial"/>
              </a:rPr>
              <a:t> are different packings of the same molecule</a:t>
            </a:r>
          </a:p>
          <a:p>
            <a:pPr>
              <a:spcAft>
                <a:spcPts val="1400"/>
              </a:spcAft>
            </a:pPr>
            <a:r>
              <a:rPr sz="1200">
                <a:solidFill>
                  <a:srgbClr val="1F77B4"/>
                </a:solidFill>
                <a:latin typeface="Arial"/>
              </a:rPr>
              <a:t>■  </a:t>
            </a:r>
            <a:r>
              <a:rPr sz="2000" b="0">
                <a:solidFill>
                  <a:srgbClr val="1F2937"/>
                </a:solidFill>
                <a:latin typeface="Arial"/>
              </a:rPr>
              <a:t>Same chemical formula, often the same space group</a:t>
            </a:r>
          </a:p>
          <a:p>
            <a:pPr>
              <a:spcAft>
                <a:spcPts val="1400"/>
              </a:spcAft>
            </a:pPr>
            <a:r>
              <a:rPr sz="1200">
                <a:solidFill>
                  <a:srgbClr val="1F77B4"/>
                </a:solidFill>
                <a:latin typeface="Arial"/>
              </a:rPr>
              <a:t>■  </a:t>
            </a:r>
            <a:r>
              <a:rPr sz="2000" b="0">
                <a:solidFill>
                  <a:srgbClr val="1F2937"/>
                </a:solidFill>
                <a:latin typeface="Arial"/>
              </a:rPr>
              <a:t>Only the packing differs, which shows up as shifts in PXRD peak positions and intensities</a:t>
            </a:r>
          </a:p>
          <a:p>
            <a:pPr>
              <a:spcAft>
                <a:spcPts val="1400"/>
              </a:spcAft>
            </a:pPr>
            <a:r>
              <a:rPr sz="1200">
                <a:solidFill>
                  <a:srgbClr val="1F77B4"/>
                </a:solidFill>
                <a:latin typeface="Arial"/>
              </a:rPr>
              <a:t>■  </a:t>
            </a:r>
            <a:r>
              <a:rPr sz="2000" b="1">
                <a:solidFill>
                  <a:srgbClr val="1F2937"/>
                </a:solidFill>
                <a:latin typeface="Arial"/>
              </a:rPr>
              <a:t>It matters: </a:t>
            </a:r>
            <a:r>
              <a:rPr sz="2000" b="0">
                <a:solidFill>
                  <a:srgbClr val="1F2937"/>
                </a:solidFill>
                <a:latin typeface="Arial"/>
              </a:rPr>
              <a:t>ritonavir (an HIV drug) had to be pulled when a less soluble form appeared in production</a:t>
            </a:r>
          </a:p>
        </p:txBody>
      </p:sp>
      <p:sp>
        <p:nvSpPr>
          <p:cNvPr id="8" name="Rounded Rectangle 7"/>
          <p:cNvSpPr/>
          <p:nvPr/>
        </p:nvSpPr>
        <p:spPr>
          <a:xfrm>
            <a:off x="548640" y="5074920"/>
            <a:ext cx="5577840" cy="1051560"/>
          </a:xfrm>
          <a:prstGeom prst="roundRect">
            <a:avLst>
              <a:gd name="adj" fmla="val 12000"/>
            </a:avLst>
          </a:prstGeom>
          <a:solidFill>
            <a:srgbClr val="14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Arial"/>
              </a:rPr>
              <a:t>ROY: same formula, same space group (P2₁/n).</a:t>
            </a:r>
          </a:p>
          <a:p>
            <a:pPr algn="ctr"/>
            <a:r>
              <a:rPr sz="1500" b="0">
                <a:solidFill>
                  <a:srgbClr val="FFFFFF"/>
                </a:solidFill>
                <a:latin typeface="Arial"/>
              </a:rPr>
              <a:t>Only the PXRD pattern tells Y and OP apart.</a:t>
            </a:r>
          </a:p>
        </p:txBody>
      </p:sp>
      <p:pic>
        <p:nvPicPr>
          <p:cNvPr id="9" name="Picture 8" descr="roy_Y_vs_OP.png"/>
          <p:cNvPicPr>
            <a:picLocks noChangeAspect="1"/>
          </p:cNvPicPr>
          <p:nvPr/>
        </p:nvPicPr>
        <p:blipFill>
          <a:blip r:embed="rId2"/>
          <a:stretch>
            <a:fillRect/>
          </a:stretch>
        </p:blipFill>
        <p:spPr>
          <a:xfrm>
            <a:off x="6355080" y="1371600"/>
            <a:ext cx="5400675" cy="4800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lIns="45720" rIns="45720">
            <a:spAutoFit/>
          </a:bodyPr>
          <a:lstStyle/>
          <a:p>
            <a:pPr algn="l">
              <a:lnSpc>
                <a:spcPct val="110000"/>
              </a:lnSpc>
            </a:pPr>
            <a:r>
              <a:rPr sz="1400" b="1" i="0">
                <a:solidFill>
                  <a:srgbClr val="1F77B4"/>
                </a:solidFill>
                <a:latin typeface="Arial"/>
              </a:rPr>
              <a:t>THE GAP</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lnSpc>
                <a:spcPct val="110000"/>
              </a:lnSpc>
            </a:pPr>
            <a:r>
              <a:rPr sz="3200" b="1" i="0">
                <a:solidFill>
                  <a:srgbClr val="14243D"/>
                </a:solidFill>
                <a:latin typeface="Arial"/>
              </a:rPr>
              <a:t>Existing models lean on composition and symmetry</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lnSpc>
                <a:spcPct val="110000"/>
              </a:lnSpc>
            </a:pPr>
            <a:r>
              <a:rPr sz="1100" b="0" i="0">
                <a:solidFill>
                  <a:srgbClr val="6B7280"/>
                </a:solidFill>
                <a:latin typeface="Arial"/>
              </a:rPr>
              <a:t>Cai · Polymorph-Resolving Retrieval from PXRD · IEEE MIT URTC 2026</a:t>
            </a:r>
          </a:p>
        </p:txBody>
      </p:sp>
      <p:sp>
        <p:nvSpPr>
          <p:cNvPr id="6" name="TextBox 5"/>
          <p:cNvSpPr txBox="1"/>
          <p:nvPr/>
        </p:nvSpPr>
        <p:spPr>
          <a:xfrm>
            <a:off x="10881360" y="6400800"/>
            <a:ext cx="822960" cy="320040"/>
          </a:xfrm>
          <a:prstGeom prst="rect">
            <a:avLst/>
          </a:prstGeom>
          <a:noFill/>
        </p:spPr>
        <p:txBody>
          <a:bodyPr wrap="square" anchor="t" lIns="45720" rIns="45720">
            <a:spAutoFit/>
          </a:bodyPr>
          <a:lstStyle/>
          <a:p>
            <a:pPr algn="r">
              <a:lnSpc>
                <a:spcPct val="110000"/>
              </a:lnSpc>
            </a:pPr>
            <a:r>
              <a:rPr sz="1100" b="0" i="0">
                <a:solidFill>
                  <a:srgbClr val="6B7280"/>
                </a:solidFill>
                <a:latin typeface="Arial"/>
              </a:rPr>
              <a:t>3 / 11</a:t>
            </a:r>
          </a:p>
        </p:txBody>
      </p:sp>
      <p:sp>
        <p:nvSpPr>
          <p:cNvPr id="7" name="TextBox 6"/>
          <p:cNvSpPr txBox="1"/>
          <p:nvPr/>
        </p:nvSpPr>
        <p:spPr>
          <a:xfrm>
            <a:off x="548640" y="1600200"/>
            <a:ext cx="5760720" cy="3200400"/>
          </a:xfrm>
          <a:prstGeom prst="rect">
            <a:avLst/>
          </a:prstGeom>
          <a:noFill/>
        </p:spPr>
        <p:txBody>
          <a:bodyPr wrap="square">
            <a:spAutoFit/>
          </a:bodyPr>
          <a:lstStyle/>
          <a:p>
            <a:pPr>
              <a:spcAft>
                <a:spcPts val="1400"/>
              </a:spcAft>
            </a:pPr>
            <a:r>
              <a:rPr sz="1200">
                <a:solidFill>
                  <a:srgbClr val="1F77B4"/>
                </a:solidFill>
                <a:latin typeface="Arial"/>
              </a:rPr>
              <a:t>■  </a:t>
            </a:r>
            <a:r>
              <a:rPr sz="2000" b="1">
                <a:solidFill>
                  <a:srgbClr val="1F2937"/>
                </a:solidFill>
                <a:latin typeface="Arial"/>
              </a:rPr>
              <a:t>Classical search-match: </a:t>
            </a:r>
            <a:r>
              <a:rPr sz="2000" b="0">
                <a:solidFill>
                  <a:srgbClr val="1F2937"/>
                </a:solidFill>
                <a:latin typeface="Arial"/>
              </a:rPr>
              <a:t>correlate the pattern against a reference library</a:t>
            </a:r>
          </a:p>
          <a:p>
            <a:pPr>
              <a:spcAft>
                <a:spcPts val="1400"/>
              </a:spcAft>
            </a:pPr>
            <a:r>
              <a:rPr sz="1200">
                <a:solidFill>
                  <a:srgbClr val="1F77B4"/>
                </a:solidFill>
                <a:latin typeface="Arial"/>
              </a:rPr>
              <a:t>■  </a:t>
            </a:r>
            <a:r>
              <a:rPr sz="2000" b="1">
                <a:solidFill>
                  <a:srgbClr val="1F2937"/>
                </a:solidFill>
                <a:latin typeface="Arial"/>
              </a:rPr>
              <a:t>XCCP</a:t>
            </a:r>
            <a:r>
              <a:rPr sz="2000" b="0">
                <a:solidFill>
                  <a:srgbClr val="1F2937"/>
                </a:solidFill>
                <a:latin typeface="Arial"/>
              </a:rPr>
              <a:t> (155k inorganic crystals) and </a:t>
            </a:r>
            <a:r>
              <a:rPr sz="2000" b="1">
                <a:solidFill>
                  <a:srgbClr val="1F2937"/>
                </a:solidFill>
                <a:latin typeface="Arial"/>
              </a:rPr>
              <a:t>XtalNet</a:t>
            </a:r>
            <a:r>
              <a:rPr sz="2000" b="0">
                <a:solidFill>
                  <a:srgbClr val="1F2937"/>
                </a:solidFill>
                <a:latin typeface="Arial"/>
              </a:rPr>
              <a:t> (MOFs): contrastive PXRD↔structure retrieval</a:t>
            </a:r>
          </a:p>
          <a:p>
            <a:pPr>
              <a:spcAft>
                <a:spcPts val="1400"/>
              </a:spcAft>
            </a:pPr>
            <a:r>
              <a:rPr sz="1200">
                <a:solidFill>
                  <a:srgbClr val="1F77B4"/>
                </a:solidFill>
                <a:latin typeface="Arial"/>
              </a:rPr>
              <a:t>■  </a:t>
            </a:r>
            <a:r>
              <a:rPr sz="2000" b="0">
                <a:solidFill>
                  <a:srgbClr val="1F2937"/>
                </a:solidFill>
                <a:latin typeface="Arial"/>
              </a:rPr>
              <a:t>Both lean on composition and space-group cues, and that signal disappears for polymorphs</a:t>
            </a:r>
          </a:p>
          <a:p>
            <a:pPr>
              <a:spcAft>
                <a:spcPts val="1400"/>
              </a:spcAft>
            </a:pPr>
            <a:r>
              <a:rPr sz="1200">
                <a:solidFill>
                  <a:srgbClr val="1F77B4"/>
                </a:solidFill>
                <a:latin typeface="Arial"/>
              </a:rPr>
              <a:t>■  </a:t>
            </a:r>
            <a:r>
              <a:rPr sz="2000" b="0">
                <a:solidFill>
                  <a:srgbClr val="1F2937"/>
                </a:solidFill>
                <a:latin typeface="Arial"/>
              </a:rPr>
              <a:t>No prior work tests retrieval with the composition held fixed</a:t>
            </a:r>
          </a:p>
        </p:txBody>
      </p:sp>
      <p:sp>
        <p:nvSpPr>
          <p:cNvPr id="8" name="Rounded Rectangle 7"/>
          <p:cNvSpPr/>
          <p:nvPr/>
        </p:nvSpPr>
        <p:spPr>
          <a:xfrm>
            <a:off x="6675120" y="1645920"/>
            <a:ext cx="4937760" cy="548640"/>
          </a:xfrm>
          <a:prstGeom prst="roundRect">
            <a:avLst>
              <a:gd name="adj" fmla="val 1200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Arial"/>
              </a:rPr>
              <a:t>Our task: within-family retrieval</a:t>
            </a:r>
          </a:p>
        </p:txBody>
      </p:sp>
      <p:sp>
        <p:nvSpPr>
          <p:cNvPr id="9" name="Rounded Rectangle 8"/>
          <p:cNvSpPr/>
          <p:nvPr/>
        </p:nvSpPr>
        <p:spPr>
          <a:xfrm>
            <a:off x="6675120" y="2286000"/>
            <a:ext cx="4937760" cy="2468880"/>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0">
                <a:solidFill>
                  <a:srgbClr val="1F2937"/>
                </a:solidFill>
                <a:latin typeface="Arial"/>
              </a:rPr>
              <a:t>Query: one polymorph's PXRD pattern</a:t>
            </a:r>
          </a:p>
          <a:p>
            <a:pPr algn="ctr"/>
            <a:r>
              <a:rPr sz="1700" b="0">
                <a:solidFill>
                  <a:srgbClr val="1F2937"/>
                </a:solidFill>
                <a:latin typeface="Arial"/>
              </a:rPr>
              <a:t>Library: only its sibling polymorphs</a:t>
            </a:r>
          </a:p>
          <a:p>
            <a:pPr algn="ctr"/>
            <a:r>
              <a:rPr sz="1700" b="0">
                <a:solidFill>
                  <a:srgbClr val="1F2937"/>
                </a:solidFill>
                <a:latin typeface="Arial"/>
              </a:rPr>
              <a:t>Pick the packing that produced it</a:t>
            </a:r>
          </a:p>
          <a:p>
            <a:pPr algn="ctr"/>
            <a:r>
              <a:rPr sz="1700" b="0">
                <a:solidFill>
                  <a:srgbClr val="1F2937"/>
                </a:solidFill>
                <a:latin typeface="Arial"/>
              </a:rPr>
              <a:t/>
            </a:r>
          </a:p>
          <a:p>
            <a:pPr algn="ctr"/>
            <a:r>
              <a:rPr sz="1700" b="0">
                <a:solidFill>
                  <a:srgbClr val="1F2937"/>
                </a:solidFill>
                <a:latin typeface="Arial"/>
              </a:rPr>
              <a:t>A composition/symmetry retriever is at chance </a:t>
            </a:r>
            <a:r>
              <a:rPr sz="1700" b="1">
                <a:solidFill>
                  <a:srgbClr val="1F2937"/>
                </a:solidFill>
                <a:latin typeface="Arial"/>
              </a:rPr>
              <a:t>by construction</a:t>
            </a:r>
          </a:p>
        </p:txBody>
      </p:sp>
      <p:sp>
        <p:nvSpPr>
          <p:cNvPr id="10" name="Rounded Rectangle 9"/>
          <p:cNvSpPr/>
          <p:nvPr/>
        </p:nvSpPr>
        <p:spPr>
          <a:xfrm>
            <a:off x="6675120" y="4937760"/>
            <a:ext cx="4937760" cy="1051560"/>
          </a:xfrm>
          <a:prstGeom prst="roundRect">
            <a:avLst>
              <a:gd name="adj" fmla="val 12000"/>
            </a:avLst>
          </a:prstGeom>
          <a:solidFill>
            <a:srgbClr val="14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a:rPr>
              <a:t>Chance = 0.380</a:t>
            </a:r>
          </a:p>
          <a:p>
            <a:pPr algn="ctr"/>
            <a:r>
              <a:rPr sz="1400" b="0">
                <a:solidFill>
                  <a:srgbClr val="FFFFFF"/>
                </a:solidFill>
                <a:latin typeface="Arial"/>
              </a:rPr>
              <a:t>(average over family sizes)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lIns="45720" rIns="45720">
            <a:spAutoFit/>
          </a:bodyPr>
          <a:lstStyle/>
          <a:p>
            <a:pPr algn="l">
              <a:lnSpc>
                <a:spcPct val="110000"/>
              </a:lnSpc>
            </a:pPr>
            <a:r>
              <a:rPr sz="1400" b="1" i="0">
                <a:solidFill>
                  <a:srgbClr val="1F77B4"/>
                </a:solidFill>
                <a:latin typeface="Arial"/>
              </a:rPr>
              <a:t>APPROACH</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lnSpc>
                <a:spcPct val="110000"/>
              </a:lnSpc>
            </a:pPr>
            <a:r>
              <a:rPr sz="3200" b="1" i="0">
                <a:solidFill>
                  <a:srgbClr val="14243D"/>
                </a:solidFill>
                <a:latin typeface="Arial"/>
              </a:rPr>
              <a:t>Method: a CLIP-style dual encoder</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lnSpc>
                <a:spcPct val="110000"/>
              </a:lnSpc>
            </a:pPr>
            <a:r>
              <a:rPr sz="1100" b="0" i="0">
                <a:solidFill>
                  <a:srgbClr val="6B7280"/>
                </a:solidFill>
                <a:latin typeface="Arial"/>
              </a:rPr>
              <a:t>Cai · Polymorph-Resolving Retrieval from PXRD · IEEE MIT URTC 2026</a:t>
            </a:r>
          </a:p>
        </p:txBody>
      </p:sp>
      <p:sp>
        <p:nvSpPr>
          <p:cNvPr id="6" name="TextBox 5"/>
          <p:cNvSpPr txBox="1"/>
          <p:nvPr/>
        </p:nvSpPr>
        <p:spPr>
          <a:xfrm>
            <a:off x="10881360" y="6400800"/>
            <a:ext cx="822960" cy="320040"/>
          </a:xfrm>
          <a:prstGeom prst="rect">
            <a:avLst/>
          </a:prstGeom>
          <a:noFill/>
        </p:spPr>
        <p:txBody>
          <a:bodyPr wrap="square" anchor="t" lIns="45720" rIns="45720">
            <a:spAutoFit/>
          </a:bodyPr>
          <a:lstStyle/>
          <a:p>
            <a:pPr algn="r">
              <a:lnSpc>
                <a:spcPct val="110000"/>
              </a:lnSpc>
            </a:pPr>
            <a:r>
              <a:rPr sz="1100" b="0" i="0">
                <a:solidFill>
                  <a:srgbClr val="6B7280"/>
                </a:solidFill>
                <a:latin typeface="Arial"/>
              </a:rPr>
              <a:t>4 / 11</a:t>
            </a:r>
          </a:p>
        </p:txBody>
      </p:sp>
      <p:sp>
        <p:nvSpPr>
          <p:cNvPr id="7" name="Rounded Rectangle 6"/>
          <p:cNvSpPr/>
          <p:nvPr/>
        </p:nvSpPr>
        <p:spPr>
          <a:xfrm>
            <a:off x="548640" y="1783080"/>
            <a:ext cx="2103120" cy="1051560"/>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2937"/>
                </a:solidFill>
                <a:latin typeface="Arial"/>
              </a:rPr>
              <a:t>PXRD pattern</a:t>
            </a:r>
          </a:p>
          <a:p>
            <a:pPr algn="ctr"/>
            <a:r>
              <a:rPr sz="1500" b="0">
                <a:solidFill>
                  <a:srgbClr val="1F2937"/>
                </a:solidFill>
                <a:latin typeface="Arial"/>
              </a:rPr>
              <a:t>5–50° 2θ, 2,251 pts</a:t>
            </a:r>
          </a:p>
        </p:txBody>
      </p:sp>
      <p:sp>
        <p:nvSpPr>
          <p:cNvPr id="8" name="Right Arrow 7"/>
          <p:cNvSpPr/>
          <p:nvPr/>
        </p:nvSpPr>
        <p:spPr>
          <a:xfrm>
            <a:off x="2743200" y="2148840"/>
            <a:ext cx="502920" cy="32004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37560" y="1783080"/>
            <a:ext cx="2651760" cy="1051560"/>
          </a:xfrm>
          <a:prstGeom prst="roundRect">
            <a:avLst>
              <a:gd name="adj" fmla="val 1200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Arial"/>
              </a:rPr>
              <a:t>1D ResNet</a:t>
            </a:r>
          </a:p>
          <a:p>
            <a:pPr algn="ctr"/>
            <a:r>
              <a:rPr sz="1500" b="0">
                <a:solidFill>
                  <a:srgbClr val="FFFFFF"/>
                </a:solidFill>
                <a:latin typeface="Arial"/>
              </a:rPr>
              <a:t>wide kernels + global pooling</a:t>
            </a:r>
          </a:p>
        </p:txBody>
      </p:sp>
      <p:sp>
        <p:nvSpPr>
          <p:cNvPr id="10" name="Right Arrow 9"/>
          <p:cNvSpPr/>
          <p:nvPr/>
        </p:nvSpPr>
        <p:spPr>
          <a:xfrm>
            <a:off x="6080760" y="2148840"/>
            <a:ext cx="502920" cy="32004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3429000"/>
            <a:ext cx="2103120" cy="1051560"/>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2937"/>
                </a:solidFill>
                <a:latin typeface="Arial"/>
              </a:rPr>
              <a:t>Crystal structure</a:t>
            </a:r>
          </a:p>
          <a:p>
            <a:pPr algn="ctr"/>
            <a:r>
              <a:rPr sz="1500" b="0">
                <a:solidFill>
                  <a:srgbClr val="1F2937"/>
                </a:solidFill>
                <a:latin typeface="Arial"/>
              </a:rPr>
              <a:t>atoms + unit cell</a:t>
            </a:r>
          </a:p>
        </p:txBody>
      </p:sp>
      <p:sp>
        <p:nvSpPr>
          <p:cNvPr id="12" name="Right Arrow 11"/>
          <p:cNvSpPr/>
          <p:nvPr/>
        </p:nvSpPr>
        <p:spPr>
          <a:xfrm>
            <a:off x="2743200" y="3794760"/>
            <a:ext cx="502920" cy="32004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37560" y="3429000"/>
            <a:ext cx="2651760" cy="1051560"/>
          </a:xfrm>
          <a:prstGeom prst="roundRect">
            <a:avLst>
              <a:gd name="adj" fmla="val 12000"/>
            </a:avLst>
          </a:prstGeom>
          <a:solidFill>
            <a:srgbClr val="D627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Arial"/>
              </a:rPr>
              <a:t>Atom-set Transformer</a:t>
            </a:r>
          </a:p>
          <a:p>
            <a:pPr algn="ctr"/>
            <a:r>
              <a:rPr sz="1500" b="0">
                <a:solidFill>
                  <a:srgbClr val="FFFFFF"/>
                </a:solidFill>
                <a:latin typeface="Arial"/>
              </a:rPr>
              <a:t>periodic coords + lattice token</a:t>
            </a:r>
          </a:p>
        </p:txBody>
      </p:sp>
      <p:sp>
        <p:nvSpPr>
          <p:cNvPr id="14" name="Right Arrow 13"/>
          <p:cNvSpPr/>
          <p:nvPr/>
        </p:nvSpPr>
        <p:spPr>
          <a:xfrm>
            <a:off x="6080760" y="3794760"/>
            <a:ext cx="502920" cy="32004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75120" y="1783080"/>
            <a:ext cx="2194560" cy="2651760"/>
          </a:xfrm>
          <a:prstGeom prst="roundRect">
            <a:avLst>
              <a:gd name="adj" fmla="val 12000"/>
            </a:avLst>
          </a:prstGeom>
          <a:solidFill>
            <a:srgbClr val="14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rial"/>
              </a:rPr>
              <a:t>Shared 256-d</a:t>
            </a:r>
          </a:p>
          <a:p>
            <a:pPr algn="ctr"/>
            <a:r>
              <a:rPr sz="1600" b="1">
                <a:solidFill>
                  <a:srgbClr val="FFFFFF"/>
                </a:solidFill>
                <a:latin typeface="Arial"/>
              </a:rPr>
              <a:t>embedding</a:t>
            </a:r>
          </a:p>
          <a:p>
            <a:pPr algn="ctr"/>
            <a:r>
              <a:rPr sz="1600" b="0">
                <a:solidFill>
                  <a:srgbClr val="FFFFFF"/>
                </a:solidFill>
                <a:latin typeface="Arial"/>
              </a:rPr>
              <a:t/>
            </a:r>
          </a:p>
          <a:p>
            <a:pPr algn="ctr"/>
            <a:r>
              <a:rPr sz="1600" b="0">
                <a:solidFill>
                  <a:srgbClr val="FFFFFF"/>
                </a:solidFill>
                <a:latin typeface="Arial"/>
              </a:rPr>
              <a:t>match = cosine</a:t>
            </a:r>
          </a:p>
          <a:p>
            <a:pPr algn="ctr"/>
            <a:r>
              <a:rPr sz="1600" b="0">
                <a:solidFill>
                  <a:srgbClr val="FFFFFF"/>
                </a:solidFill>
                <a:latin typeface="Arial"/>
              </a:rPr>
              <a:t>similarity</a:t>
            </a:r>
          </a:p>
        </p:txBody>
      </p:sp>
      <p:sp>
        <p:nvSpPr>
          <p:cNvPr id="16" name="Right Arrow 15"/>
          <p:cNvSpPr/>
          <p:nvPr/>
        </p:nvSpPr>
        <p:spPr>
          <a:xfrm>
            <a:off x="8961120" y="2880360"/>
            <a:ext cx="502920" cy="32004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55480" y="1783080"/>
            <a:ext cx="2103120" cy="2651760"/>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2937"/>
                </a:solidFill>
                <a:latin typeface="Arial"/>
              </a:rPr>
              <a:t>Symmetric InfoNCE</a:t>
            </a:r>
          </a:p>
          <a:p>
            <a:pPr algn="ctr"/>
            <a:r>
              <a:rPr sz="1500" b="0">
                <a:solidFill>
                  <a:srgbClr val="1F2937"/>
                </a:solidFill>
                <a:latin typeface="Arial"/>
              </a:rPr>
              <a:t/>
            </a:r>
          </a:p>
          <a:p>
            <a:pPr algn="ctr"/>
            <a:r>
              <a:rPr sz="1500" b="0">
                <a:solidFill>
                  <a:srgbClr val="1F2937"/>
                </a:solidFill>
                <a:latin typeface="Arial"/>
              </a:rPr>
              <a:t>pull matched pairs together</a:t>
            </a:r>
          </a:p>
          <a:p>
            <a:pPr algn="ctr"/>
            <a:r>
              <a:rPr sz="1500" b="0">
                <a:solidFill>
                  <a:srgbClr val="1F2937"/>
                </a:solidFill>
                <a:latin typeface="Arial"/>
              </a:rPr>
              <a:t/>
            </a:r>
          </a:p>
          <a:p>
            <a:pPr algn="ctr"/>
            <a:r>
              <a:rPr sz="1500" b="0">
                <a:solidFill>
                  <a:srgbClr val="1F2937"/>
                </a:solidFill>
                <a:latin typeface="Arial"/>
              </a:rPr>
              <a:t>push the other B−1 apart</a:t>
            </a:r>
          </a:p>
        </p:txBody>
      </p:sp>
      <p:sp>
        <p:nvSpPr>
          <p:cNvPr id="18" name="TextBox 17"/>
          <p:cNvSpPr txBox="1"/>
          <p:nvPr/>
        </p:nvSpPr>
        <p:spPr>
          <a:xfrm>
            <a:off x="548640" y="4892040"/>
            <a:ext cx="11155680" cy="1371600"/>
          </a:xfrm>
          <a:prstGeom prst="rect">
            <a:avLst/>
          </a:prstGeom>
          <a:noFill/>
        </p:spPr>
        <p:txBody>
          <a:bodyPr wrap="square">
            <a:spAutoFit/>
          </a:bodyPr>
          <a:lstStyle/>
          <a:p>
            <a:pPr>
              <a:spcAft>
                <a:spcPts val="800"/>
              </a:spcAft>
            </a:pPr>
            <a:r>
              <a:rPr sz="1080">
                <a:solidFill>
                  <a:srgbClr val="1F77B4"/>
                </a:solidFill>
                <a:latin typeface="Arial"/>
              </a:rPr>
              <a:t>■  </a:t>
            </a:r>
            <a:r>
              <a:rPr sz="1800" b="0">
                <a:solidFill>
                  <a:srgbClr val="1F2937"/>
                </a:solidFill>
                <a:latin typeface="Arial"/>
              </a:rPr>
              <a:t>Train on 247,089 CSD molecular crystals; patterns are re-simulated on the fly, so no pattern is seen twice</a:t>
            </a:r>
          </a:p>
          <a:p>
            <a:pPr>
              <a:spcAft>
                <a:spcPts val="800"/>
              </a:spcAft>
            </a:pPr>
            <a:r>
              <a:rPr sz="1080">
                <a:solidFill>
                  <a:srgbClr val="1F77B4"/>
                </a:solidFill>
                <a:latin typeface="Arial"/>
              </a:rPr>
              <a:t>■  </a:t>
            </a:r>
            <a:r>
              <a:rPr sz="1800" b="0">
                <a:solidFill>
                  <a:srgbClr val="1F2937"/>
                </a:solidFill>
                <a:latin typeface="Arial"/>
              </a:rPr>
              <a:t>Retrieval: embed the query pattern, rank library structures by cosine similarity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lIns="45720" rIns="45720">
            <a:spAutoFit/>
          </a:bodyPr>
          <a:lstStyle/>
          <a:p>
            <a:pPr algn="l">
              <a:lnSpc>
                <a:spcPct val="110000"/>
              </a:lnSpc>
            </a:pPr>
            <a:r>
              <a:rPr sz="1400" b="1" i="0">
                <a:solidFill>
                  <a:srgbClr val="1F77B4"/>
                </a:solidFill>
                <a:latin typeface="Arial"/>
              </a:rPr>
              <a:t>APPROACH</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lnSpc>
                <a:spcPct val="110000"/>
              </a:lnSpc>
            </a:pPr>
            <a:r>
              <a:rPr sz="3200" b="1" i="0">
                <a:solidFill>
                  <a:srgbClr val="14243D"/>
                </a:solidFill>
                <a:latin typeface="Arial"/>
              </a:rPr>
              <a:t>Physics-based augmentation, polymorph-aware training</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lnSpc>
                <a:spcPct val="110000"/>
              </a:lnSpc>
            </a:pPr>
            <a:r>
              <a:rPr sz="1100" b="0" i="0">
                <a:solidFill>
                  <a:srgbClr val="6B7280"/>
                </a:solidFill>
                <a:latin typeface="Arial"/>
              </a:rPr>
              <a:t>Cai · Polymorph-Resolving Retrieval from PXRD · IEEE MIT URTC 2026</a:t>
            </a:r>
          </a:p>
        </p:txBody>
      </p:sp>
      <p:sp>
        <p:nvSpPr>
          <p:cNvPr id="6" name="TextBox 5"/>
          <p:cNvSpPr txBox="1"/>
          <p:nvPr/>
        </p:nvSpPr>
        <p:spPr>
          <a:xfrm>
            <a:off x="10881360" y="6400800"/>
            <a:ext cx="822960" cy="320040"/>
          </a:xfrm>
          <a:prstGeom prst="rect">
            <a:avLst/>
          </a:prstGeom>
          <a:noFill/>
        </p:spPr>
        <p:txBody>
          <a:bodyPr wrap="square" anchor="t" lIns="45720" rIns="45720">
            <a:spAutoFit/>
          </a:bodyPr>
          <a:lstStyle/>
          <a:p>
            <a:pPr algn="r">
              <a:lnSpc>
                <a:spcPct val="110000"/>
              </a:lnSpc>
            </a:pPr>
            <a:r>
              <a:rPr sz="1100" b="0" i="0">
                <a:solidFill>
                  <a:srgbClr val="6B7280"/>
                </a:solidFill>
                <a:latin typeface="Arial"/>
              </a:rPr>
              <a:t>5 / 11</a:t>
            </a:r>
          </a:p>
        </p:txBody>
      </p:sp>
      <p:sp>
        <p:nvSpPr>
          <p:cNvPr id="7" name="Rounded Rectangle 6"/>
          <p:cNvSpPr/>
          <p:nvPr/>
        </p:nvSpPr>
        <p:spPr>
          <a:xfrm>
            <a:off x="548640" y="1645920"/>
            <a:ext cx="5486400" cy="502920"/>
          </a:xfrm>
          <a:prstGeom prst="roundRect">
            <a:avLst>
              <a:gd name="adj" fmla="val 1200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Arial"/>
              </a:rPr>
              <a:t>Randomized measurement model (every epoch)</a:t>
            </a:r>
          </a:p>
        </p:txBody>
      </p:sp>
      <p:sp>
        <p:nvSpPr>
          <p:cNvPr id="8" name="TextBox 7"/>
          <p:cNvSpPr txBox="1"/>
          <p:nvPr/>
        </p:nvSpPr>
        <p:spPr>
          <a:xfrm>
            <a:off x="640080" y="2286000"/>
            <a:ext cx="5394960" cy="3291840"/>
          </a:xfrm>
          <a:prstGeom prst="rect">
            <a:avLst/>
          </a:prstGeom>
          <a:noFill/>
        </p:spPr>
        <p:txBody>
          <a:bodyPr wrap="square">
            <a:spAutoFit/>
          </a:bodyPr>
          <a:lstStyle/>
          <a:p>
            <a:pPr>
              <a:spcAft>
                <a:spcPts val="800"/>
              </a:spcAft>
            </a:pPr>
            <a:r>
              <a:rPr sz="1080">
                <a:solidFill>
                  <a:srgbClr val="1F77B4"/>
                </a:solidFill>
                <a:latin typeface="Arial"/>
              </a:rPr>
              <a:t>■  </a:t>
            </a:r>
            <a:r>
              <a:rPr sz="1800" b="0">
                <a:solidFill>
                  <a:srgbClr val="1F2937"/>
                </a:solidFill>
                <a:latin typeface="Arial"/>
              </a:rPr>
              <a:t>2θ zero offset (sample displacement)</a:t>
            </a:r>
          </a:p>
          <a:p>
            <a:pPr>
              <a:spcAft>
                <a:spcPts val="800"/>
              </a:spcAft>
            </a:pPr>
            <a:r>
              <a:rPr sz="1080">
                <a:solidFill>
                  <a:srgbClr val="1F77B4"/>
                </a:solidFill>
                <a:latin typeface="Arial"/>
              </a:rPr>
              <a:t>■  </a:t>
            </a:r>
            <a:r>
              <a:rPr sz="1800" b="0">
                <a:solidFill>
                  <a:srgbClr val="1F2937"/>
                </a:solidFill>
                <a:latin typeface="Arial"/>
              </a:rPr>
              <a:t>Isotropic lattice strain (thermal / compositional)</a:t>
            </a:r>
          </a:p>
          <a:p>
            <a:pPr>
              <a:spcAft>
                <a:spcPts val="800"/>
              </a:spcAft>
            </a:pPr>
            <a:r>
              <a:rPr sz="1080">
                <a:solidFill>
                  <a:srgbClr val="1F77B4"/>
                </a:solidFill>
                <a:latin typeface="Arial"/>
              </a:rPr>
              <a:t>■  </a:t>
            </a:r>
            <a:r>
              <a:rPr sz="1800" b="0">
                <a:solidFill>
                  <a:srgbClr val="1F2937"/>
                </a:solidFill>
                <a:latin typeface="Arial"/>
              </a:rPr>
              <a:t>Caglioti + Scherrer peak broadening</a:t>
            </a:r>
          </a:p>
          <a:p>
            <a:pPr>
              <a:spcAft>
                <a:spcPts val="800"/>
              </a:spcAft>
            </a:pPr>
            <a:r>
              <a:rPr sz="1080">
                <a:solidFill>
                  <a:srgbClr val="1F77B4"/>
                </a:solidFill>
                <a:latin typeface="Arial"/>
              </a:rPr>
              <a:t>■  </a:t>
            </a:r>
            <a:r>
              <a:rPr sz="1800" b="0">
                <a:solidFill>
                  <a:srgbClr val="1F2937"/>
                </a:solidFill>
                <a:latin typeface="Arial"/>
              </a:rPr>
              <a:t>March–Dollase preferred orientation</a:t>
            </a:r>
          </a:p>
          <a:p>
            <a:pPr>
              <a:spcAft>
                <a:spcPts val="800"/>
              </a:spcAft>
            </a:pPr>
            <a:r>
              <a:rPr sz="1080">
                <a:solidFill>
                  <a:srgbClr val="1F77B4"/>
                </a:solidFill>
                <a:latin typeface="Arial"/>
              </a:rPr>
              <a:t>■  </a:t>
            </a:r>
            <a:r>
              <a:rPr sz="1800" b="0">
                <a:solidFill>
                  <a:srgbClr val="1F2937"/>
                </a:solidFill>
                <a:latin typeface="Arial"/>
              </a:rPr>
              <a:t>Polynomial + amorphous-hump background</a:t>
            </a:r>
          </a:p>
          <a:p>
            <a:pPr>
              <a:spcAft>
                <a:spcPts val="800"/>
              </a:spcAft>
            </a:pPr>
            <a:r>
              <a:rPr sz="1080">
                <a:solidFill>
                  <a:srgbClr val="1F77B4"/>
                </a:solidFill>
                <a:latin typeface="Arial"/>
              </a:rPr>
              <a:t>■  </a:t>
            </a:r>
            <a:r>
              <a:rPr sz="1800" b="0">
                <a:solidFill>
                  <a:srgbClr val="1F2937"/>
                </a:solidFill>
                <a:latin typeface="Arial"/>
              </a:rPr>
              <a:t>Poisson counting noise</a:t>
            </a:r>
          </a:p>
        </p:txBody>
      </p:sp>
      <p:sp>
        <p:nvSpPr>
          <p:cNvPr id="9" name="Rounded Rectangle 8"/>
          <p:cNvSpPr/>
          <p:nvPr/>
        </p:nvSpPr>
        <p:spPr>
          <a:xfrm>
            <a:off x="6400800" y="1645920"/>
            <a:ext cx="5257800" cy="502920"/>
          </a:xfrm>
          <a:prstGeom prst="roundRect">
            <a:avLst>
              <a:gd name="adj" fmla="val 12000"/>
            </a:avLst>
          </a:prstGeom>
          <a:solidFill>
            <a:srgbClr val="D627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Arial"/>
              </a:rPr>
              <a:t>Making the model resolve polymorphs</a:t>
            </a:r>
          </a:p>
        </p:txBody>
      </p:sp>
      <p:sp>
        <p:nvSpPr>
          <p:cNvPr id="10" name="TextBox 9"/>
          <p:cNvSpPr txBox="1"/>
          <p:nvPr/>
        </p:nvSpPr>
        <p:spPr>
          <a:xfrm>
            <a:off x="6492240" y="2286000"/>
            <a:ext cx="5120640" cy="3291840"/>
          </a:xfrm>
          <a:prstGeom prst="rect">
            <a:avLst/>
          </a:prstGeom>
          <a:noFill/>
        </p:spPr>
        <p:txBody>
          <a:bodyPr wrap="square">
            <a:spAutoFit/>
          </a:bodyPr>
          <a:lstStyle/>
          <a:p>
            <a:pPr>
              <a:spcAft>
                <a:spcPts val="1200"/>
              </a:spcAft>
            </a:pPr>
            <a:r>
              <a:rPr sz="1080">
                <a:solidFill>
                  <a:srgbClr val="1F77B4"/>
                </a:solidFill>
                <a:latin typeface="Arial"/>
              </a:rPr>
              <a:t>■  </a:t>
            </a:r>
            <a:r>
              <a:rPr sz="1800" b="1">
                <a:solidFill>
                  <a:srgbClr val="1F2937"/>
                </a:solidFill>
                <a:latin typeface="Arial"/>
              </a:rPr>
              <a:t>Hard negatives: </a:t>
            </a:r>
            <a:r>
              <a:rPr sz="1800" b="0">
                <a:solidFill>
                  <a:srgbClr val="1F2937"/>
                </a:solidFill>
                <a:latin typeface="Arial"/>
              </a:rPr>
              <a:t>sibling polymorphs share a batch, so the loss must use packing, not formula</a:t>
            </a:r>
          </a:p>
          <a:p>
            <a:pPr>
              <a:spcAft>
                <a:spcPts val="1200"/>
              </a:spcAft>
            </a:pPr>
            <a:r>
              <a:rPr sz="1080">
                <a:solidFill>
                  <a:srgbClr val="1F77B4"/>
                </a:solidFill>
                <a:latin typeface="Arial"/>
              </a:rPr>
              <a:t>■  </a:t>
            </a:r>
            <a:r>
              <a:rPr sz="1800" b="1">
                <a:solidFill>
                  <a:srgbClr val="1F2937"/>
                </a:solidFill>
                <a:latin typeface="Arial"/>
              </a:rPr>
              <a:t>Family-safe split: </a:t>
            </a:r>
            <a:r>
              <a:rPr sz="1800" b="0">
                <a:solidFill>
                  <a:srgbClr val="1F2937"/>
                </a:solidFill>
                <a:latin typeface="Arial"/>
              </a:rPr>
              <a:t>whole families stay in one split, on top of a scaffold split</a:t>
            </a:r>
          </a:p>
          <a:p>
            <a:pPr>
              <a:spcAft>
                <a:spcPts val="1200"/>
              </a:spcAft>
            </a:pPr>
            <a:r>
              <a:rPr sz="1080">
                <a:solidFill>
                  <a:srgbClr val="1F77B4"/>
                </a:solidFill>
                <a:latin typeface="Arial"/>
              </a:rPr>
              <a:t>■  </a:t>
            </a:r>
            <a:r>
              <a:rPr sz="1800" b="1">
                <a:solidFill>
                  <a:srgbClr val="1F2937"/>
                </a:solidFill>
                <a:latin typeface="Arial"/>
              </a:rPr>
              <a:t>Verified: 0 of 10,795</a:t>
            </a:r>
            <a:r>
              <a:rPr sz="1800" b="0">
                <a:solidFill>
                  <a:srgbClr val="1F2937"/>
                </a:solidFill>
                <a:latin typeface="Arial"/>
              </a:rPr>
              <a:t> families cross a split boundary</a:t>
            </a:r>
          </a:p>
        </p:txBody>
      </p:sp>
      <p:sp>
        <p:nvSpPr>
          <p:cNvPr id="11" name="Rounded Rectangle 10"/>
          <p:cNvSpPr/>
          <p:nvPr/>
        </p:nvSpPr>
        <p:spPr>
          <a:xfrm>
            <a:off x="548640" y="5257800"/>
            <a:ext cx="11109960" cy="868680"/>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F2937"/>
                </a:solidFill>
                <a:latin typeface="Arial"/>
              </a:rPr>
              <a:t>CSD: 315,060 molecular crystals → 10,795 polymorph families  ·  split 247,089 / 30,887 / 30,886  ·  test: 1,077 families, 2,835 targets  ·  60 epochs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lIns="45720" rIns="45720">
            <a:spAutoFit/>
          </a:bodyPr>
          <a:lstStyle/>
          <a:p>
            <a:pPr algn="l">
              <a:lnSpc>
                <a:spcPct val="110000"/>
              </a:lnSpc>
            </a:pPr>
            <a:r>
              <a:rPr sz="1400" b="1" i="0">
                <a:solidFill>
                  <a:srgbClr val="1F77B4"/>
                </a:solidFill>
                <a:latin typeface="Arial"/>
              </a:rPr>
              <a:t>RESULT</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lnSpc>
                <a:spcPct val="110000"/>
              </a:lnSpc>
            </a:pPr>
            <a:r>
              <a:rPr sz="3200" b="1" i="0">
                <a:solidFill>
                  <a:srgbClr val="14243D"/>
                </a:solidFill>
                <a:latin typeface="Arial"/>
              </a:rPr>
              <a:t>The model resolves polymorphs well above chance</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lnSpc>
                <a:spcPct val="110000"/>
              </a:lnSpc>
            </a:pPr>
            <a:r>
              <a:rPr sz="1100" b="0" i="0">
                <a:solidFill>
                  <a:srgbClr val="6B7280"/>
                </a:solidFill>
                <a:latin typeface="Arial"/>
              </a:rPr>
              <a:t>Cai · Polymorph-Resolving Retrieval from PXRD · IEEE MIT URTC 2026</a:t>
            </a:r>
          </a:p>
        </p:txBody>
      </p:sp>
      <p:sp>
        <p:nvSpPr>
          <p:cNvPr id="6" name="TextBox 5"/>
          <p:cNvSpPr txBox="1"/>
          <p:nvPr/>
        </p:nvSpPr>
        <p:spPr>
          <a:xfrm>
            <a:off x="10881360" y="6400800"/>
            <a:ext cx="822960" cy="320040"/>
          </a:xfrm>
          <a:prstGeom prst="rect">
            <a:avLst/>
          </a:prstGeom>
          <a:noFill/>
        </p:spPr>
        <p:txBody>
          <a:bodyPr wrap="square" anchor="t" lIns="45720" rIns="45720">
            <a:spAutoFit/>
          </a:bodyPr>
          <a:lstStyle/>
          <a:p>
            <a:pPr algn="r">
              <a:lnSpc>
                <a:spcPct val="110000"/>
              </a:lnSpc>
            </a:pPr>
            <a:r>
              <a:rPr sz="1100" b="0" i="0">
                <a:solidFill>
                  <a:srgbClr val="6B7280"/>
                </a:solidFill>
                <a:latin typeface="Arial"/>
              </a:rPr>
              <a:t>6 / 11</a:t>
            </a:r>
          </a:p>
        </p:txBody>
      </p:sp>
      <p:sp>
        <p:nvSpPr>
          <p:cNvPr id="7" name="Rounded Rectangle 6"/>
          <p:cNvSpPr/>
          <p:nvPr/>
        </p:nvSpPr>
        <p:spPr>
          <a:xfrm>
            <a:off x="548640" y="1737360"/>
            <a:ext cx="3520440" cy="2286000"/>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28800"/>
            <a:ext cx="3520440" cy="1188720"/>
          </a:xfrm>
          <a:prstGeom prst="rect">
            <a:avLst/>
          </a:prstGeom>
          <a:noFill/>
        </p:spPr>
        <p:txBody>
          <a:bodyPr wrap="square" anchor="t" lIns="45720" rIns="45720">
            <a:spAutoFit/>
          </a:bodyPr>
          <a:lstStyle/>
          <a:p>
            <a:pPr algn="ctr">
              <a:lnSpc>
                <a:spcPct val="110000"/>
              </a:lnSpc>
            </a:pPr>
            <a:r>
              <a:rPr sz="6000" b="1" i="0">
                <a:solidFill>
                  <a:srgbClr val="1F77B4"/>
                </a:solidFill>
                <a:latin typeface="Arial"/>
              </a:rPr>
              <a:t>0.561</a:t>
            </a:r>
          </a:p>
        </p:txBody>
      </p:sp>
      <p:sp>
        <p:nvSpPr>
          <p:cNvPr id="9" name="TextBox 8"/>
          <p:cNvSpPr txBox="1"/>
          <p:nvPr/>
        </p:nvSpPr>
        <p:spPr>
          <a:xfrm>
            <a:off x="548640" y="3017520"/>
            <a:ext cx="3520440" cy="822960"/>
          </a:xfrm>
          <a:prstGeom prst="rect">
            <a:avLst/>
          </a:prstGeom>
          <a:noFill/>
        </p:spPr>
        <p:txBody>
          <a:bodyPr wrap="square" anchor="t" lIns="45720" rIns="45720">
            <a:spAutoFit/>
          </a:bodyPr>
          <a:lstStyle/>
          <a:p>
            <a:pPr algn="ctr">
              <a:lnSpc>
                <a:spcPct val="110000"/>
              </a:lnSpc>
            </a:pPr>
            <a:r>
              <a:rPr sz="1700" b="0" i="0">
                <a:solidFill>
                  <a:srgbClr val="1F2937"/>
                </a:solidFill>
                <a:latin typeface="Arial"/>
              </a:rPr>
              <a:t>XRD-CLIP</a:t>
            </a:r>
          </a:p>
          <a:p>
            <a:pPr algn="ctr">
              <a:lnSpc>
                <a:spcPct val="110000"/>
              </a:lnSpc>
            </a:pPr>
            <a:r>
              <a:rPr sz="1700" b="0" i="0">
                <a:solidFill>
                  <a:srgbClr val="1F2937"/>
                </a:solidFill>
                <a:latin typeface="Arial"/>
              </a:rPr>
              <a:t>within-family top-1</a:t>
            </a:r>
          </a:p>
        </p:txBody>
      </p:sp>
      <p:sp>
        <p:nvSpPr>
          <p:cNvPr id="10" name="Rounded Rectangle 9"/>
          <p:cNvSpPr/>
          <p:nvPr/>
        </p:nvSpPr>
        <p:spPr>
          <a:xfrm>
            <a:off x="4297679" y="1737360"/>
            <a:ext cx="3520440" cy="2286000"/>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79" y="1828800"/>
            <a:ext cx="3520440" cy="1188720"/>
          </a:xfrm>
          <a:prstGeom prst="rect">
            <a:avLst/>
          </a:prstGeom>
          <a:noFill/>
        </p:spPr>
        <p:txBody>
          <a:bodyPr wrap="square" anchor="t" lIns="45720" rIns="45720">
            <a:spAutoFit/>
          </a:bodyPr>
          <a:lstStyle/>
          <a:p>
            <a:pPr algn="ctr">
              <a:lnSpc>
                <a:spcPct val="110000"/>
              </a:lnSpc>
            </a:pPr>
            <a:r>
              <a:rPr sz="6000" b="1" i="0">
                <a:solidFill>
                  <a:srgbClr val="6B7280"/>
                </a:solidFill>
                <a:latin typeface="Arial"/>
              </a:rPr>
              <a:t>0.380</a:t>
            </a:r>
          </a:p>
        </p:txBody>
      </p:sp>
      <p:sp>
        <p:nvSpPr>
          <p:cNvPr id="12" name="TextBox 11"/>
          <p:cNvSpPr txBox="1"/>
          <p:nvPr/>
        </p:nvSpPr>
        <p:spPr>
          <a:xfrm>
            <a:off x="4297679" y="3017520"/>
            <a:ext cx="3520440" cy="822960"/>
          </a:xfrm>
          <a:prstGeom prst="rect">
            <a:avLst/>
          </a:prstGeom>
          <a:noFill/>
        </p:spPr>
        <p:txBody>
          <a:bodyPr wrap="square" anchor="t" lIns="45720" rIns="45720">
            <a:spAutoFit/>
          </a:bodyPr>
          <a:lstStyle/>
          <a:p>
            <a:pPr algn="ctr">
              <a:lnSpc>
                <a:spcPct val="110000"/>
              </a:lnSpc>
            </a:pPr>
            <a:r>
              <a:rPr sz="1700" b="0" i="0">
                <a:solidFill>
                  <a:srgbClr val="1F2937"/>
                </a:solidFill>
                <a:latin typeface="Arial"/>
              </a:rPr>
              <a:t>composition-only</a:t>
            </a:r>
          </a:p>
          <a:p>
            <a:pPr algn="ctr">
              <a:lnSpc>
                <a:spcPct val="110000"/>
              </a:lnSpc>
            </a:pPr>
            <a:r>
              <a:rPr sz="1700" b="0" i="0">
                <a:solidFill>
                  <a:srgbClr val="1F2937"/>
                </a:solidFill>
                <a:latin typeface="Arial"/>
              </a:rPr>
              <a:t>chance</a:t>
            </a:r>
          </a:p>
        </p:txBody>
      </p:sp>
      <p:sp>
        <p:nvSpPr>
          <p:cNvPr id="13" name="Rounded Rectangle 12"/>
          <p:cNvSpPr/>
          <p:nvPr/>
        </p:nvSpPr>
        <p:spPr>
          <a:xfrm>
            <a:off x="8046719" y="1737360"/>
            <a:ext cx="3520440" cy="2286000"/>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9" y="1828800"/>
            <a:ext cx="3520440" cy="1188720"/>
          </a:xfrm>
          <a:prstGeom prst="rect">
            <a:avLst/>
          </a:prstGeom>
          <a:noFill/>
        </p:spPr>
        <p:txBody>
          <a:bodyPr wrap="square" anchor="t" lIns="45720" rIns="45720">
            <a:spAutoFit/>
          </a:bodyPr>
          <a:lstStyle/>
          <a:p>
            <a:pPr algn="ctr">
              <a:lnSpc>
                <a:spcPct val="110000"/>
              </a:lnSpc>
            </a:pPr>
            <a:r>
              <a:rPr sz="6000" b="1" i="0">
                <a:solidFill>
                  <a:srgbClr val="14243D"/>
                </a:solidFill>
                <a:latin typeface="Arial"/>
              </a:rPr>
              <a:t>1.48×</a:t>
            </a:r>
          </a:p>
        </p:txBody>
      </p:sp>
      <p:sp>
        <p:nvSpPr>
          <p:cNvPr id="15" name="TextBox 14"/>
          <p:cNvSpPr txBox="1"/>
          <p:nvPr/>
        </p:nvSpPr>
        <p:spPr>
          <a:xfrm>
            <a:off x="8046719" y="3017520"/>
            <a:ext cx="3520440" cy="822960"/>
          </a:xfrm>
          <a:prstGeom prst="rect">
            <a:avLst/>
          </a:prstGeom>
          <a:noFill/>
        </p:spPr>
        <p:txBody>
          <a:bodyPr wrap="square" anchor="t" lIns="45720" rIns="45720">
            <a:spAutoFit/>
          </a:bodyPr>
          <a:lstStyle/>
          <a:p>
            <a:pPr algn="ctr">
              <a:lnSpc>
                <a:spcPct val="110000"/>
              </a:lnSpc>
            </a:pPr>
            <a:r>
              <a:rPr sz="1700" b="0" i="0">
                <a:solidFill>
                  <a:srgbClr val="1F2937"/>
                </a:solidFill>
                <a:latin typeface="Arial"/>
              </a:rPr>
              <a:t>lift over</a:t>
            </a:r>
          </a:p>
          <a:p>
            <a:pPr algn="ctr">
              <a:lnSpc>
                <a:spcPct val="110000"/>
              </a:lnSpc>
            </a:pPr>
            <a:r>
              <a:rPr sz="1700" b="0" i="0">
                <a:solidFill>
                  <a:srgbClr val="1F2937"/>
                </a:solidFill>
                <a:latin typeface="Arial"/>
              </a:rPr>
              <a:t>chance</a:t>
            </a:r>
          </a:p>
        </p:txBody>
      </p:sp>
      <p:sp>
        <p:nvSpPr>
          <p:cNvPr id="16" name="TextBox 15"/>
          <p:cNvSpPr txBox="1"/>
          <p:nvPr/>
        </p:nvSpPr>
        <p:spPr>
          <a:xfrm>
            <a:off x="548640" y="4251960"/>
            <a:ext cx="11155680" cy="457200"/>
          </a:xfrm>
          <a:prstGeom prst="rect">
            <a:avLst/>
          </a:prstGeom>
          <a:noFill/>
        </p:spPr>
        <p:txBody>
          <a:bodyPr wrap="square" anchor="t" lIns="45720" rIns="45720">
            <a:spAutoFit/>
          </a:bodyPr>
          <a:lstStyle/>
          <a:p>
            <a:pPr algn="ctr">
              <a:lnSpc>
                <a:spcPct val="110000"/>
              </a:lnSpc>
            </a:pPr>
            <a:r>
              <a:rPr sz="1900" b="1" i="0">
                <a:solidFill>
                  <a:srgbClr val="1F2937"/>
                </a:solidFill>
                <a:latin typeface="Arial"/>
              </a:rPr>
              <a:t>Top-2 0.843  ·  Top-5 0.949  ·  MRR 0.738   (1,077 held-out families, 2,835 queries)</a:t>
            </a:r>
          </a:p>
        </p:txBody>
      </p:sp>
      <p:sp>
        <p:nvSpPr>
          <p:cNvPr id="17" name="Rounded Rectangle 16"/>
          <p:cNvSpPr/>
          <p:nvPr/>
        </p:nvSpPr>
        <p:spPr>
          <a:xfrm>
            <a:off x="548640" y="4937760"/>
            <a:ext cx="11109960" cy="1097280"/>
          </a:xfrm>
          <a:prstGeom prst="roundRect">
            <a:avLst>
              <a:gd name="adj" fmla="val 12000"/>
            </a:avLst>
          </a:prstGeom>
          <a:solidFill>
            <a:srgbClr val="14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rial"/>
              </a:rPr>
              <a:t>Honest context: </a:t>
            </a:r>
            <a:r>
              <a:rPr sz="1600" b="0">
                <a:solidFill>
                  <a:srgbClr val="FFFFFF"/>
                </a:solidFill>
                <a:latin typeface="Arial"/>
              </a:rPr>
              <a:t>on a perfectly clean query, plain correlation scores 1.0 because the query is a byte-identical copy of the library entry. The real test is a query that carries measurement effects the library doesn't.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lIns="45720" rIns="45720">
            <a:spAutoFit/>
          </a:bodyPr>
          <a:lstStyle/>
          <a:p>
            <a:pPr algn="l">
              <a:lnSpc>
                <a:spcPct val="110000"/>
              </a:lnSpc>
            </a:pPr>
            <a:r>
              <a:rPr sz="1400" b="1" i="0">
                <a:solidFill>
                  <a:srgbClr val="1F77B4"/>
                </a:solidFill>
                <a:latin typeface="Arial"/>
              </a:rPr>
              <a:t>ROBUSTNESS</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lnSpc>
                <a:spcPct val="110000"/>
              </a:lnSpc>
            </a:pPr>
            <a:r>
              <a:rPr sz="3200" b="1" i="0">
                <a:solidFill>
                  <a:srgbClr val="14243D"/>
                </a:solidFill>
                <a:latin typeface="Arial"/>
              </a:rPr>
              <a:t>Robust to the effects that break search-match</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lnSpc>
                <a:spcPct val="110000"/>
              </a:lnSpc>
            </a:pPr>
            <a:r>
              <a:rPr sz="1100" b="0" i="0">
                <a:solidFill>
                  <a:srgbClr val="6B7280"/>
                </a:solidFill>
                <a:latin typeface="Arial"/>
              </a:rPr>
              <a:t>Cai · Polymorph-Resolving Retrieval from PXRD · IEEE MIT URTC 2026</a:t>
            </a:r>
          </a:p>
        </p:txBody>
      </p:sp>
      <p:sp>
        <p:nvSpPr>
          <p:cNvPr id="6" name="TextBox 5"/>
          <p:cNvSpPr txBox="1"/>
          <p:nvPr/>
        </p:nvSpPr>
        <p:spPr>
          <a:xfrm>
            <a:off x="10881360" y="6400800"/>
            <a:ext cx="822960" cy="320040"/>
          </a:xfrm>
          <a:prstGeom prst="rect">
            <a:avLst/>
          </a:prstGeom>
          <a:noFill/>
        </p:spPr>
        <p:txBody>
          <a:bodyPr wrap="square" anchor="t" lIns="45720" rIns="45720">
            <a:spAutoFit/>
          </a:bodyPr>
          <a:lstStyle/>
          <a:p>
            <a:pPr algn="r">
              <a:lnSpc>
                <a:spcPct val="110000"/>
              </a:lnSpc>
            </a:pPr>
            <a:r>
              <a:rPr sz="1100" b="0" i="0">
                <a:solidFill>
                  <a:srgbClr val="6B7280"/>
                </a:solidFill>
                <a:latin typeface="Arial"/>
              </a:rPr>
              <a:t>7 / 11</a:t>
            </a:r>
          </a:p>
        </p:txBody>
      </p:sp>
      <p:pic>
        <p:nvPicPr>
          <p:cNvPr id="7" name="Picture 6" descr="fig_sweeps.png"/>
          <p:cNvPicPr>
            <a:picLocks noChangeAspect="1"/>
          </p:cNvPicPr>
          <p:nvPr/>
        </p:nvPicPr>
        <p:blipFill>
          <a:blip r:embed="rId2"/>
          <a:stretch>
            <a:fillRect/>
          </a:stretch>
        </p:blipFill>
        <p:spPr>
          <a:xfrm>
            <a:off x="548640" y="1463040"/>
            <a:ext cx="11109960" cy="3760294"/>
          </a:xfrm>
          <a:prstGeom prst="rect">
            <a:avLst/>
          </a:prstGeom>
        </p:spPr>
      </p:pic>
      <p:sp>
        <p:nvSpPr>
          <p:cNvPr id="8" name="TextBox 7"/>
          <p:cNvSpPr txBox="1"/>
          <p:nvPr/>
        </p:nvSpPr>
        <p:spPr>
          <a:xfrm>
            <a:off x="548640" y="5349240"/>
            <a:ext cx="11155680" cy="1005840"/>
          </a:xfrm>
          <a:prstGeom prst="rect">
            <a:avLst/>
          </a:prstGeom>
          <a:noFill/>
        </p:spPr>
        <p:txBody>
          <a:bodyPr wrap="square">
            <a:spAutoFit/>
          </a:bodyPr>
          <a:lstStyle/>
          <a:p>
            <a:pPr>
              <a:spcAft>
                <a:spcPts val="600"/>
              </a:spcAft>
            </a:pPr>
            <a:r>
              <a:rPr sz="1019">
                <a:solidFill>
                  <a:srgbClr val="1F77B4"/>
                </a:solidFill>
                <a:latin typeface="Arial"/>
              </a:rPr>
              <a:t>■  </a:t>
            </a:r>
            <a:r>
              <a:rPr sz="1700" b="1">
                <a:solidFill>
                  <a:srgbClr val="1F2937"/>
                </a:solidFill>
                <a:latin typeface="Arial"/>
              </a:rPr>
              <a:t>Peak shifts (a, b): </a:t>
            </a:r>
            <a:r>
              <a:rPr sz="1700" b="0">
                <a:solidFill>
                  <a:srgbClr val="1F2937"/>
                </a:solidFill>
                <a:latin typeface="Arial"/>
              </a:rPr>
              <a:t>the model stays flat (0.561 → 0.523) while correlation collapses (1.0 → 0.298)</a:t>
            </a:r>
          </a:p>
          <a:p>
            <a:pPr>
              <a:spcAft>
                <a:spcPts val="600"/>
              </a:spcAft>
            </a:pPr>
            <a:r>
              <a:rPr sz="1019">
                <a:solidFill>
                  <a:srgbClr val="1F77B4"/>
                </a:solidFill>
                <a:latin typeface="Arial"/>
              </a:rPr>
              <a:t>■  </a:t>
            </a:r>
            <a:r>
              <a:rPr sz="1700" b="1">
                <a:solidFill>
                  <a:srgbClr val="1F2937"/>
                </a:solidFill>
                <a:latin typeface="Arial"/>
              </a:rPr>
              <a:t>Limitation (c): </a:t>
            </a:r>
            <a:r>
              <a:rPr sz="1700" b="0">
                <a:solidFill>
                  <a:srgbClr val="1F2937"/>
                </a:solidFill>
                <a:latin typeface="Arial"/>
              </a:rPr>
              <a:t>severe broadening at 10 nm crystallites, where correlation (0.884) beats the model (0.472)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lIns="45720" rIns="45720">
            <a:spAutoFit/>
          </a:bodyPr>
          <a:lstStyle/>
          <a:p>
            <a:pPr algn="l">
              <a:lnSpc>
                <a:spcPct val="110000"/>
              </a:lnSpc>
            </a:pPr>
            <a:r>
              <a:rPr sz="1400" b="1" i="0">
                <a:solidFill>
                  <a:srgbClr val="1F77B4"/>
                </a:solidFill>
                <a:latin typeface="Arial"/>
              </a:rPr>
              <a:t>ROBUSTNESS</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lnSpc>
                <a:spcPct val="110000"/>
              </a:lnSpc>
            </a:pPr>
            <a:r>
              <a:rPr sz="3200" b="1" i="0">
                <a:solidFill>
                  <a:srgbClr val="14243D"/>
                </a:solidFill>
                <a:latin typeface="Arial"/>
              </a:rPr>
              <a:t>When shifts add, classical methods fall to chance</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lnSpc>
                <a:spcPct val="110000"/>
              </a:lnSpc>
            </a:pPr>
            <a:r>
              <a:rPr sz="1100" b="0" i="0">
                <a:solidFill>
                  <a:srgbClr val="6B7280"/>
                </a:solidFill>
                <a:latin typeface="Arial"/>
              </a:rPr>
              <a:t>Cai · Polymorph-Resolving Retrieval from PXRD · IEEE MIT URTC 2026</a:t>
            </a:r>
          </a:p>
        </p:txBody>
      </p:sp>
      <p:sp>
        <p:nvSpPr>
          <p:cNvPr id="6" name="TextBox 5"/>
          <p:cNvSpPr txBox="1"/>
          <p:nvPr/>
        </p:nvSpPr>
        <p:spPr>
          <a:xfrm>
            <a:off x="10881360" y="6400800"/>
            <a:ext cx="822960" cy="320040"/>
          </a:xfrm>
          <a:prstGeom prst="rect">
            <a:avLst/>
          </a:prstGeom>
          <a:noFill/>
        </p:spPr>
        <p:txBody>
          <a:bodyPr wrap="square" anchor="t" lIns="45720" rIns="45720">
            <a:spAutoFit/>
          </a:bodyPr>
          <a:lstStyle/>
          <a:p>
            <a:pPr algn="r">
              <a:lnSpc>
                <a:spcPct val="110000"/>
              </a:lnSpc>
            </a:pPr>
            <a:r>
              <a:rPr sz="1100" b="0" i="0">
                <a:solidFill>
                  <a:srgbClr val="6B7280"/>
                </a:solidFill>
                <a:latin typeface="Arial"/>
              </a:rPr>
              <a:t>8 / 11</a:t>
            </a:r>
          </a:p>
        </p:txBody>
      </p:sp>
      <p:pic>
        <p:nvPicPr>
          <p:cNvPr id="7" name="Picture 6" descr="fig_combined.png"/>
          <p:cNvPicPr>
            <a:picLocks noChangeAspect="1"/>
          </p:cNvPicPr>
          <p:nvPr/>
        </p:nvPicPr>
        <p:blipFill>
          <a:blip r:embed="rId2"/>
          <a:stretch>
            <a:fillRect/>
          </a:stretch>
        </p:blipFill>
        <p:spPr>
          <a:xfrm>
            <a:off x="548640" y="1417320"/>
            <a:ext cx="11109960" cy="3814001"/>
          </a:xfrm>
          <a:prstGeom prst="rect">
            <a:avLst/>
          </a:prstGeom>
        </p:spPr>
      </p:pic>
      <p:sp>
        <p:nvSpPr>
          <p:cNvPr id="8" name="TextBox 7"/>
          <p:cNvSpPr txBox="1"/>
          <p:nvPr/>
        </p:nvSpPr>
        <p:spPr>
          <a:xfrm>
            <a:off x="548640" y="5303520"/>
            <a:ext cx="11155680" cy="1051560"/>
          </a:xfrm>
          <a:prstGeom prst="rect">
            <a:avLst/>
          </a:prstGeom>
          <a:noFill/>
        </p:spPr>
        <p:txBody>
          <a:bodyPr wrap="square">
            <a:spAutoFit/>
          </a:bodyPr>
          <a:lstStyle/>
          <a:p>
            <a:pPr>
              <a:spcAft>
                <a:spcPts val="600"/>
              </a:spcAft>
            </a:pPr>
            <a:r>
              <a:rPr sz="1019">
                <a:solidFill>
                  <a:srgbClr val="1F77B4"/>
                </a:solidFill>
                <a:latin typeface="Arial"/>
              </a:rPr>
              <a:t>■  </a:t>
            </a:r>
            <a:r>
              <a:rPr sz="1700" b="0">
                <a:solidFill>
                  <a:srgbClr val="1F2937"/>
                </a:solidFill>
                <a:latin typeface="Arial"/>
              </a:rPr>
              <a:t>Displacement and lattice expansion shift peaks in opposite directions. Same sizes, relative sign flipped:</a:t>
            </a:r>
          </a:p>
          <a:p>
            <a:pPr>
              <a:spcAft>
                <a:spcPts val="600"/>
              </a:spcAft>
            </a:pPr>
            <a:r>
              <a:rPr sz="1019">
                <a:solidFill>
                  <a:srgbClr val="1F77B4"/>
                </a:solidFill>
                <a:latin typeface="Arial"/>
              </a:rPr>
              <a:t>■  </a:t>
            </a:r>
            <a:r>
              <a:rPr sz="1700" b="1">
                <a:solidFill>
                  <a:srgbClr val="1F2937"/>
                </a:solidFill>
                <a:latin typeface="Arial"/>
              </a:rPr>
              <a:t>Correlation 0.807 → 0.334, peak-list 0.784 → 0.340 (chance); </a:t>
            </a:r>
            <a:r>
              <a:rPr sz="1700" b="1">
                <a:solidFill>
                  <a:srgbClr val="1F77B4"/>
                </a:solidFill>
                <a:latin typeface="Arial"/>
              </a:rPr>
              <a:t>model 0.555 → 0.534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lIns="45720" rIns="45720">
            <a:spAutoFit/>
          </a:bodyPr>
          <a:lstStyle/>
          <a:p>
            <a:pPr algn="l">
              <a:lnSpc>
                <a:spcPct val="110000"/>
              </a:lnSpc>
            </a:pPr>
            <a:r>
              <a:rPr sz="1400" b="1" i="0">
                <a:solidFill>
                  <a:srgbClr val="1F77B4"/>
                </a:solidFill>
                <a:latin typeface="Arial"/>
              </a:rPr>
              <a:t>ANALYSIS</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lnSpc>
                <a:spcPct val="110000"/>
              </a:lnSpc>
            </a:pPr>
            <a:r>
              <a:rPr sz="3200" b="1" i="0">
                <a:solidFill>
                  <a:srgbClr val="14243D"/>
                </a:solidFill>
                <a:latin typeface="Arial"/>
              </a:rPr>
              <a:t>Ablations: where the robustness comes from</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lnSpc>
                <a:spcPct val="110000"/>
              </a:lnSpc>
            </a:pPr>
            <a:r>
              <a:rPr sz="1100" b="0" i="0">
                <a:solidFill>
                  <a:srgbClr val="6B7280"/>
                </a:solidFill>
                <a:latin typeface="Arial"/>
              </a:rPr>
              <a:t>Cai · Polymorph-Resolving Retrieval from PXRD · IEEE MIT URTC 2026</a:t>
            </a:r>
          </a:p>
        </p:txBody>
      </p:sp>
      <p:sp>
        <p:nvSpPr>
          <p:cNvPr id="6" name="TextBox 5"/>
          <p:cNvSpPr txBox="1"/>
          <p:nvPr/>
        </p:nvSpPr>
        <p:spPr>
          <a:xfrm>
            <a:off x="10881360" y="6400800"/>
            <a:ext cx="822960" cy="320040"/>
          </a:xfrm>
          <a:prstGeom prst="rect">
            <a:avLst/>
          </a:prstGeom>
          <a:noFill/>
        </p:spPr>
        <p:txBody>
          <a:bodyPr wrap="square" anchor="t" lIns="45720" rIns="45720">
            <a:spAutoFit/>
          </a:bodyPr>
          <a:lstStyle/>
          <a:p>
            <a:pPr algn="r">
              <a:lnSpc>
                <a:spcPct val="110000"/>
              </a:lnSpc>
            </a:pPr>
            <a:r>
              <a:rPr sz="1100" b="0" i="0">
                <a:solidFill>
                  <a:srgbClr val="6B7280"/>
                </a:solidFill>
                <a:latin typeface="Arial"/>
              </a:rPr>
              <a:t>9 / 11</a:t>
            </a:r>
          </a:p>
        </p:txBody>
      </p:sp>
      <p:graphicFrame>
        <p:nvGraphicFramePr>
          <p:cNvPr id="7" name="Table 6"/>
          <p:cNvGraphicFramePr>
            <a:graphicFrameLocks noGrp="1"/>
          </p:cNvGraphicFramePr>
          <p:nvPr/>
        </p:nvGraphicFramePr>
        <p:xfrm>
          <a:off x="548640" y="1600200"/>
          <a:ext cx="6766560" cy="3291840"/>
        </p:xfrm>
        <a:graphic>
          <a:graphicData uri="http://schemas.openxmlformats.org/drawingml/2006/table">
            <a:tbl>
              <a:tblPr firstRow="1" bandRow="1">
                <a:tableStyleId>{5C22544A-7EE6-4342-B048-85BDC9FD1C3A}</a:tableStyleId>
              </a:tblPr>
              <a:tblGrid>
                <a:gridCol w="2377440"/>
                <a:gridCol w="1463040"/>
                <a:gridCol w="1463040"/>
                <a:gridCol w="1463040"/>
              </a:tblGrid>
              <a:tr h="548640">
                <a:tc>
                  <a:txBody>
                    <a:bodyPr/>
                    <a:lstStyle/>
                    <a:p>
                      <a:pPr algn="l"/>
                      <a:r>
                        <a:rPr sz="1400" b="1">
                          <a:solidFill>
                            <a:srgbClr val="FFFFFF"/>
                          </a:solidFill>
                          <a:latin typeface="Arial"/>
                        </a:rPr>
                        <a:t>Within-family top-1</a:t>
                      </a:r>
                    </a:p>
                  </a:txBody>
                  <a:tcPr>
                    <a:solidFill>
                      <a:srgbClr val="14243D"/>
                    </a:solidFill>
                  </a:tcPr>
                </a:tc>
                <a:tc>
                  <a:txBody>
                    <a:bodyPr/>
                    <a:lstStyle/>
                    <a:p>
                      <a:pPr algn="ctr"/>
                      <a:r>
                        <a:rPr sz="1400" b="1">
                          <a:solidFill>
                            <a:srgbClr val="FFFFFF"/>
                          </a:solidFill>
                          <a:latin typeface="Arial"/>
                        </a:rPr>
                        <a:t>Full aug (main)</a:t>
                      </a:r>
                    </a:p>
                  </a:txBody>
                  <a:tcPr>
                    <a:solidFill>
                      <a:srgbClr val="14243D"/>
                    </a:solidFill>
                  </a:tcPr>
                </a:tc>
                <a:tc>
                  <a:txBody>
                    <a:bodyPr/>
                    <a:lstStyle/>
                    <a:p>
                      <a:pPr algn="ctr"/>
                      <a:r>
                        <a:rPr sz="1400" b="1">
                          <a:solidFill>
                            <a:srgbClr val="FFFFFF"/>
                          </a:solidFill>
                          <a:latin typeface="Arial"/>
                        </a:rPr>
                        <a:t>No shift/strain aug</a:t>
                      </a:r>
                    </a:p>
                  </a:txBody>
                  <a:tcPr>
                    <a:solidFill>
                      <a:srgbClr val="14243D"/>
                    </a:solidFill>
                  </a:tcPr>
                </a:tc>
                <a:tc>
                  <a:txBody>
                    <a:bodyPr/>
                    <a:lstStyle/>
                    <a:p>
                      <a:pPr algn="ctr"/>
                      <a:r>
                        <a:rPr sz="1400" b="1">
                          <a:solidFill>
                            <a:srgbClr val="FFFFFF"/>
                          </a:solidFill>
                          <a:latin typeface="Arial"/>
                        </a:rPr>
                        <a:t>No aug (clean)</a:t>
                      </a:r>
                    </a:p>
                  </a:txBody>
                  <a:tcPr>
                    <a:solidFill>
                      <a:srgbClr val="14243D"/>
                    </a:solidFill>
                  </a:tcPr>
                </a:tc>
              </a:tr>
              <a:tr h="548640">
                <a:tc>
                  <a:txBody>
                    <a:bodyPr/>
                    <a:lstStyle/>
                    <a:p>
                      <a:pPr algn="l"/>
                      <a:r>
                        <a:rPr sz="1500" b="0">
                          <a:solidFill>
                            <a:srgbClr val="1F2937"/>
                          </a:solidFill>
                          <a:latin typeface="Arial"/>
                        </a:rPr>
                        <a:t>Clean</a:t>
                      </a:r>
                    </a:p>
                  </a:txBody>
                  <a:tcPr>
                    <a:solidFill>
                      <a:srgbClr val="FFFFFF"/>
                    </a:solidFill>
                  </a:tcPr>
                </a:tc>
                <a:tc>
                  <a:txBody>
                    <a:bodyPr/>
                    <a:lstStyle/>
                    <a:p>
                      <a:pPr algn="ctr"/>
                      <a:r>
                        <a:rPr sz="1500" b="0">
                          <a:solidFill>
                            <a:srgbClr val="1F2937"/>
                          </a:solidFill>
                          <a:latin typeface="Arial"/>
                        </a:rPr>
                        <a:t>0.561</a:t>
                      </a:r>
                    </a:p>
                  </a:txBody>
                  <a:tcPr>
                    <a:solidFill>
                      <a:srgbClr val="FFFFFF"/>
                    </a:solidFill>
                  </a:tcPr>
                </a:tc>
                <a:tc>
                  <a:txBody>
                    <a:bodyPr/>
                    <a:lstStyle/>
                    <a:p>
                      <a:pPr algn="ctr"/>
                      <a:r>
                        <a:rPr sz="1500" b="0">
                          <a:solidFill>
                            <a:srgbClr val="1F2937"/>
                          </a:solidFill>
                          <a:latin typeface="Arial"/>
                        </a:rPr>
                        <a:t>0.553</a:t>
                      </a:r>
                    </a:p>
                  </a:txBody>
                  <a:tcPr>
                    <a:solidFill>
                      <a:srgbClr val="FFFFFF"/>
                    </a:solidFill>
                  </a:tcPr>
                </a:tc>
                <a:tc>
                  <a:txBody>
                    <a:bodyPr/>
                    <a:lstStyle/>
                    <a:p>
                      <a:pPr algn="ctr"/>
                      <a:r>
                        <a:rPr sz="1500" b="0">
                          <a:solidFill>
                            <a:srgbClr val="1F2937"/>
                          </a:solidFill>
                          <a:latin typeface="Arial"/>
                        </a:rPr>
                        <a:t>0.557</a:t>
                      </a:r>
                    </a:p>
                  </a:txBody>
                  <a:tcPr>
                    <a:solidFill>
                      <a:srgbClr val="FFFFFF"/>
                    </a:solidFill>
                  </a:tcPr>
                </a:tc>
              </a:tr>
              <a:tr h="548640">
                <a:tc>
                  <a:txBody>
                    <a:bodyPr/>
                    <a:lstStyle/>
                    <a:p>
                      <a:pPr algn="l"/>
                      <a:r>
                        <a:rPr sz="1500" b="0">
                          <a:solidFill>
                            <a:srgbClr val="1F2937"/>
                          </a:solidFill>
                          <a:latin typeface="Arial"/>
                        </a:rPr>
                        <a:t>Pure shift @ 0.1°</a:t>
                      </a:r>
                    </a:p>
                  </a:txBody>
                  <a:tcPr>
                    <a:solidFill>
                      <a:srgbClr val="EEF3F9"/>
                    </a:solidFill>
                  </a:tcPr>
                </a:tc>
                <a:tc>
                  <a:txBody>
                    <a:bodyPr/>
                    <a:lstStyle/>
                    <a:p>
                      <a:pPr algn="ctr"/>
                      <a:r>
                        <a:rPr sz="1500" b="0">
                          <a:solidFill>
                            <a:srgbClr val="1F2937"/>
                          </a:solidFill>
                          <a:latin typeface="Arial"/>
                        </a:rPr>
                        <a:t>0.552</a:t>
                      </a:r>
                    </a:p>
                  </a:txBody>
                  <a:tcPr>
                    <a:solidFill>
                      <a:srgbClr val="EEF3F9"/>
                    </a:solidFill>
                  </a:tcPr>
                </a:tc>
                <a:tc>
                  <a:txBody>
                    <a:bodyPr/>
                    <a:lstStyle/>
                    <a:p>
                      <a:pPr algn="ctr"/>
                      <a:r>
                        <a:rPr sz="1500" b="0">
                          <a:solidFill>
                            <a:srgbClr val="1F2937"/>
                          </a:solidFill>
                          <a:latin typeface="Arial"/>
                        </a:rPr>
                        <a:t>0.549</a:t>
                      </a:r>
                    </a:p>
                  </a:txBody>
                  <a:tcPr>
                    <a:solidFill>
                      <a:srgbClr val="EEF3F9"/>
                    </a:solidFill>
                  </a:tcPr>
                </a:tc>
                <a:tc>
                  <a:txBody>
                    <a:bodyPr/>
                    <a:lstStyle/>
                    <a:p>
                      <a:pPr algn="ctr"/>
                      <a:r>
                        <a:rPr sz="1500" b="0">
                          <a:solidFill>
                            <a:srgbClr val="1F2937"/>
                          </a:solidFill>
                          <a:latin typeface="Arial"/>
                        </a:rPr>
                        <a:t>0.552</a:t>
                      </a:r>
                    </a:p>
                  </a:txBody>
                  <a:tcPr>
                    <a:solidFill>
                      <a:srgbClr val="EEF3F9"/>
                    </a:solidFill>
                  </a:tcPr>
                </a:tc>
              </a:tr>
              <a:tr h="548640">
                <a:tc>
                  <a:txBody>
                    <a:bodyPr/>
                    <a:lstStyle/>
                    <a:p>
                      <a:pPr algn="l"/>
                      <a:r>
                        <a:rPr sz="1500" b="0">
                          <a:solidFill>
                            <a:srgbClr val="1F2937"/>
                          </a:solidFill>
                          <a:latin typeface="Arial"/>
                        </a:rPr>
                        <a:t>Field (mild)</a:t>
                      </a:r>
                    </a:p>
                  </a:txBody>
                  <a:tcPr>
                    <a:solidFill>
                      <a:srgbClr val="FFFFFF"/>
                    </a:solidFill>
                  </a:tcPr>
                </a:tc>
                <a:tc>
                  <a:txBody>
                    <a:bodyPr/>
                    <a:lstStyle/>
                    <a:p>
                      <a:pPr algn="ctr"/>
                      <a:r>
                        <a:rPr sz="1500" b="0">
                          <a:solidFill>
                            <a:srgbClr val="1F2937"/>
                          </a:solidFill>
                          <a:latin typeface="Arial"/>
                        </a:rPr>
                        <a:t>0.554</a:t>
                      </a:r>
                    </a:p>
                  </a:txBody>
                  <a:tcPr>
                    <a:solidFill>
                      <a:srgbClr val="FFFFFF"/>
                    </a:solidFill>
                  </a:tcPr>
                </a:tc>
                <a:tc>
                  <a:txBody>
                    <a:bodyPr/>
                    <a:lstStyle/>
                    <a:p>
                      <a:pPr algn="ctr"/>
                      <a:r>
                        <a:rPr sz="1500" b="0">
                          <a:solidFill>
                            <a:srgbClr val="1F2937"/>
                          </a:solidFill>
                          <a:latin typeface="Arial"/>
                        </a:rPr>
                        <a:t>0.560</a:t>
                      </a:r>
                    </a:p>
                  </a:txBody>
                  <a:tcPr>
                    <a:solidFill>
                      <a:srgbClr val="FFFFFF"/>
                    </a:solidFill>
                  </a:tcPr>
                </a:tc>
                <a:tc>
                  <a:txBody>
                    <a:bodyPr/>
                    <a:lstStyle/>
                    <a:p>
                      <a:pPr algn="ctr"/>
                      <a:r>
                        <a:rPr sz="1500" b="1">
                          <a:solidFill>
                            <a:srgbClr val="D62728"/>
                          </a:solidFill>
                          <a:latin typeface="Arial"/>
                        </a:rPr>
                        <a:t>0.380</a:t>
                      </a:r>
                    </a:p>
                  </a:txBody>
                  <a:tcPr>
                    <a:solidFill>
                      <a:srgbClr val="FDE2E2"/>
                    </a:solidFill>
                  </a:tcPr>
                </a:tc>
              </a:tr>
              <a:tr h="548640">
                <a:tc>
                  <a:txBody>
                    <a:bodyPr/>
                    <a:lstStyle/>
                    <a:p>
                      <a:pPr algn="l"/>
                      <a:r>
                        <a:rPr sz="1500" b="0">
                          <a:solidFill>
                            <a:srgbClr val="1F2937"/>
                          </a:solidFill>
                          <a:latin typeface="Arial"/>
                        </a:rPr>
                        <a:t>Field (harsh)</a:t>
                      </a:r>
                    </a:p>
                  </a:txBody>
                  <a:tcPr>
                    <a:solidFill>
                      <a:srgbClr val="EEF3F9"/>
                    </a:solidFill>
                  </a:tcPr>
                </a:tc>
                <a:tc>
                  <a:txBody>
                    <a:bodyPr/>
                    <a:lstStyle/>
                    <a:p>
                      <a:pPr algn="ctr"/>
                      <a:r>
                        <a:rPr sz="1500" b="0">
                          <a:solidFill>
                            <a:srgbClr val="1F2937"/>
                          </a:solidFill>
                          <a:latin typeface="Arial"/>
                        </a:rPr>
                        <a:t>0.521</a:t>
                      </a:r>
                    </a:p>
                  </a:txBody>
                  <a:tcPr>
                    <a:solidFill>
                      <a:srgbClr val="EEF3F9"/>
                    </a:solidFill>
                  </a:tcPr>
                </a:tc>
                <a:tc>
                  <a:txBody>
                    <a:bodyPr/>
                    <a:lstStyle/>
                    <a:p>
                      <a:pPr algn="ctr"/>
                      <a:r>
                        <a:rPr sz="1500" b="0">
                          <a:solidFill>
                            <a:srgbClr val="1F2937"/>
                          </a:solidFill>
                          <a:latin typeface="Arial"/>
                        </a:rPr>
                        <a:t>0.528</a:t>
                      </a:r>
                    </a:p>
                  </a:txBody>
                  <a:tcPr>
                    <a:solidFill>
                      <a:srgbClr val="EEF3F9"/>
                    </a:solidFill>
                  </a:tcPr>
                </a:tc>
                <a:tc>
                  <a:txBody>
                    <a:bodyPr/>
                    <a:lstStyle/>
                    <a:p>
                      <a:pPr algn="ctr"/>
                      <a:r>
                        <a:rPr sz="1500" b="1">
                          <a:solidFill>
                            <a:srgbClr val="D62728"/>
                          </a:solidFill>
                          <a:latin typeface="Arial"/>
                        </a:rPr>
                        <a:t>0.379</a:t>
                      </a:r>
                    </a:p>
                  </a:txBody>
                  <a:tcPr>
                    <a:solidFill>
                      <a:srgbClr val="FDE2E2"/>
                    </a:solidFill>
                  </a:tcPr>
                </a:tc>
              </a:tr>
              <a:tr h="548640">
                <a:tc>
                  <a:txBody>
                    <a:bodyPr/>
                    <a:lstStyle/>
                    <a:p>
                      <a:pPr algn="l"/>
                      <a:r>
                        <a:rPr sz="1500" b="0">
                          <a:solidFill>
                            <a:srgbClr val="1F2937"/>
                          </a:solidFill>
                          <a:latin typeface="Arial"/>
                        </a:rPr>
                        <a:t>Shifts add</a:t>
                      </a:r>
                    </a:p>
                  </a:txBody>
                  <a:tcPr>
                    <a:solidFill>
                      <a:srgbClr val="FFFFFF"/>
                    </a:solidFill>
                  </a:tcPr>
                </a:tc>
                <a:tc>
                  <a:txBody>
                    <a:bodyPr/>
                    <a:lstStyle/>
                    <a:p>
                      <a:pPr algn="ctr"/>
                      <a:r>
                        <a:rPr sz="1500" b="0">
                          <a:solidFill>
                            <a:srgbClr val="1F2937"/>
                          </a:solidFill>
                          <a:latin typeface="Arial"/>
                        </a:rPr>
                        <a:t>0.534</a:t>
                      </a:r>
                    </a:p>
                  </a:txBody>
                  <a:tcPr>
                    <a:solidFill>
                      <a:srgbClr val="FFFFFF"/>
                    </a:solidFill>
                  </a:tcPr>
                </a:tc>
                <a:tc>
                  <a:txBody>
                    <a:bodyPr/>
                    <a:lstStyle/>
                    <a:p>
                      <a:pPr algn="ctr"/>
                      <a:r>
                        <a:rPr sz="1500" b="0">
                          <a:solidFill>
                            <a:srgbClr val="1F2937"/>
                          </a:solidFill>
                          <a:latin typeface="Arial"/>
                        </a:rPr>
                        <a:t>0.530</a:t>
                      </a:r>
                    </a:p>
                  </a:txBody>
                  <a:tcPr>
                    <a:solidFill>
                      <a:srgbClr val="FFFFFF"/>
                    </a:solidFill>
                  </a:tcPr>
                </a:tc>
                <a:tc>
                  <a:txBody>
                    <a:bodyPr/>
                    <a:lstStyle/>
                    <a:p>
                      <a:pPr algn="ctr"/>
                      <a:r>
                        <a:rPr sz="1500" b="1">
                          <a:solidFill>
                            <a:srgbClr val="D62728"/>
                          </a:solidFill>
                          <a:latin typeface="Arial"/>
                        </a:rPr>
                        <a:t>0.379</a:t>
                      </a:r>
                    </a:p>
                  </a:txBody>
                  <a:tcPr>
                    <a:solidFill>
                      <a:srgbClr val="FDE2E2"/>
                    </a:solidFill>
                  </a:tcPr>
                </a:tc>
              </a:tr>
            </a:tbl>
          </a:graphicData>
        </a:graphic>
      </p:graphicFrame>
      <p:sp>
        <p:nvSpPr>
          <p:cNvPr id="8" name="TextBox 7"/>
          <p:cNvSpPr txBox="1"/>
          <p:nvPr/>
        </p:nvSpPr>
        <p:spPr>
          <a:xfrm>
            <a:off x="548640" y="4983480"/>
            <a:ext cx="6766560" cy="365760"/>
          </a:xfrm>
          <a:prstGeom prst="rect">
            <a:avLst/>
          </a:prstGeom>
          <a:noFill/>
        </p:spPr>
        <p:txBody>
          <a:bodyPr wrap="square" anchor="t" lIns="45720" rIns="45720">
            <a:spAutoFit/>
          </a:bodyPr>
          <a:lstStyle/>
          <a:p>
            <a:pPr algn="l">
              <a:lnSpc>
                <a:spcPct val="110000"/>
              </a:lnSpc>
            </a:pPr>
            <a:r>
              <a:rPr sz="1300" b="0" i="0">
                <a:solidFill>
                  <a:srgbClr val="6B7280"/>
                </a:solidFill>
                <a:latin typeface="Arial"/>
              </a:rPr>
              <a:t>Same architecture, data, and 60-epoch schedule; only the augmentation changes. Chance = 0.380.</a:t>
            </a:r>
          </a:p>
        </p:txBody>
      </p:sp>
      <p:sp>
        <p:nvSpPr>
          <p:cNvPr id="9" name="Rounded Rectangle 8"/>
          <p:cNvSpPr/>
          <p:nvPr/>
        </p:nvSpPr>
        <p:spPr>
          <a:xfrm>
            <a:off x="7680960" y="1600200"/>
            <a:ext cx="3977639" cy="1783080"/>
          </a:xfrm>
          <a:prstGeom prst="roundRect">
            <a:avLst>
              <a:gd name="adj" fmla="val 1200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Arial"/>
              </a:rPr>
              <a:t>Peak-shift invariance is EMERGENT</a:t>
            </a:r>
          </a:p>
          <a:p>
            <a:pPr algn="ctr"/>
            <a:r>
              <a:rPr sz="1500" b="0">
                <a:solidFill>
                  <a:srgbClr val="FFFFFF"/>
                </a:solidFill>
                <a:latin typeface="Arial"/>
              </a:rPr>
              <a:t/>
            </a:r>
          </a:p>
          <a:p>
            <a:pPr algn="ctr"/>
            <a:r>
              <a:rPr sz="1500" b="0">
                <a:solidFill>
                  <a:srgbClr val="FFFFFF"/>
                </a:solidFill>
                <a:latin typeface="Arial"/>
              </a:rPr>
              <a:t>Dropping shift/strain augmentation changes nothing: the CNN with global pooling is built to tolerate shifts</a:t>
            </a:r>
          </a:p>
        </p:txBody>
      </p:sp>
      <p:sp>
        <p:nvSpPr>
          <p:cNvPr id="10" name="Rounded Rectangle 9"/>
          <p:cNvSpPr/>
          <p:nvPr/>
        </p:nvSpPr>
        <p:spPr>
          <a:xfrm>
            <a:off x="7680960" y="3566160"/>
            <a:ext cx="3977639" cy="2057400"/>
          </a:xfrm>
          <a:prstGeom prst="roundRect">
            <a:avLst>
              <a:gd name="adj" fmla="val 12000"/>
            </a:avLst>
          </a:prstGeom>
          <a:solidFill>
            <a:srgbClr val="D627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Arial"/>
              </a:rPr>
              <a:t>Profile robustness is LEARNED</a:t>
            </a:r>
          </a:p>
          <a:p>
            <a:pPr algn="ctr"/>
            <a:r>
              <a:rPr sz="1500" b="0">
                <a:solidFill>
                  <a:srgbClr val="FFFFFF"/>
                </a:solidFill>
                <a:latin typeface="Arial"/>
              </a:rPr>
              <a:t/>
            </a:r>
          </a:p>
          <a:p>
            <a:pPr algn="ctr"/>
            <a:r>
              <a:rPr sz="1500" b="0">
                <a:solidFill>
                  <a:srgbClr val="FFFFFF"/>
                </a:solidFill>
                <a:latin typeface="Arial"/>
              </a:rPr>
              <a:t>Trained on clean patterns, the twin drops to chance once real instrument effects appear, so this is not fingerprint leakage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lIns="45720" rIns="45720">
            <a:spAutoFit/>
          </a:bodyPr>
          <a:lstStyle/>
          <a:p>
            <a:pPr algn="l">
              <a:lnSpc>
                <a:spcPct val="110000"/>
              </a:lnSpc>
            </a:pPr>
            <a:r>
              <a:rPr sz="1400" b="1" i="0">
                <a:solidFill>
                  <a:srgbClr val="1F77B4"/>
                </a:solidFill>
                <a:latin typeface="Arial"/>
              </a:rPr>
              <a:t>SCOPE</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lnSpc>
                <a:spcPct val="110000"/>
              </a:lnSpc>
            </a:pPr>
            <a:r>
              <a:rPr sz="3200" b="1" i="0">
                <a:solidFill>
                  <a:srgbClr val="14243D"/>
                </a:solidFill>
                <a:latin typeface="Arial"/>
              </a:rPr>
              <a:t>Sim-to-real spot check and limitations</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lnSpc>
                <a:spcPct val="110000"/>
              </a:lnSpc>
            </a:pPr>
            <a:r>
              <a:rPr sz="1100" b="0" i="0">
                <a:solidFill>
                  <a:srgbClr val="6B7280"/>
                </a:solidFill>
                <a:latin typeface="Arial"/>
              </a:rPr>
              <a:t>Cai · Polymorph-Resolving Retrieval from PXRD · IEEE MIT URTC 2026</a:t>
            </a:r>
          </a:p>
        </p:txBody>
      </p:sp>
      <p:sp>
        <p:nvSpPr>
          <p:cNvPr id="6" name="TextBox 5"/>
          <p:cNvSpPr txBox="1"/>
          <p:nvPr/>
        </p:nvSpPr>
        <p:spPr>
          <a:xfrm>
            <a:off x="10881360" y="6400800"/>
            <a:ext cx="822960" cy="320040"/>
          </a:xfrm>
          <a:prstGeom prst="rect">
            <a:avLst/>
          </a:prstGeom>
          <a:noFill/>
        </p:spPr>
        <p:txBody>
          <a:bodyPr wrap="square" anchor="t" lIns="45720" rIns="45720">
            <a:spAutoFit/>
          </a:bodyPr>
          <a:lstStyle/>
          <a:p>
            <a:pPr algn="r">
              <a:lnSpc>
                <a:spcPct val="110000"/>
              </a:lnSpc>
            </a:pPr>
            <a:r>
              <a:rPr sz="1100" b="0" i="0">
                <a:solidFill>
                  <a:srgbClr val="6B7280"/>
                </a:solidFill>
                <a:latin typeface="Arial"/>
              </a:rPr>
              <a:t>10 / 11</a:t>
            </a:r>
          </a:p>
        </p:txBody>
      </p:sp>
      <p:sp>
        <p:nvSpPr>
          <p:cNvPr id="7" name="Rounded Rectangle 6"/>
          <p:cNvSpPr/>
          <p:nvPr/>
        </p:nvSpPr>
        <p:spPr>
          <a:xfrm>
            <a:off x="548640" y="1645920"/>
            <a:ext cx="5486400" cy="502920"/>
          </a:xfrm>
          <a:prstGeom prst="roundRect">
            <a:avLst>
              <a:gd name="adj" fmla="val 1200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Arial"/>
              </a:rPr>
              <a:t>Real experimental patterns (Cu-Kα₁)</a:t>
            </a:r>
          </a:p>
        </p:txBody>
      </p:sp>
      <p:sp>
        <p:nvSpPr>
          <p:cNvPr id="8" name="TextBox 7"/>
          <p:cNvSpPr txBox="1"/>
          <p:nvPr/>
        </p:nvSpPr>
        <p:spPr>
          <a:xfrm>
            <a:off x="640080" y="2286000"/>
            <a:ext cx="5394960" cy="3474720"/>
          </a:xfrm>
          <a:prstGeom prst="rect">
            <a:avLst/>
          </a:prstGeom>
          <a:noFill/>
        </p:spPr>
        <p:txBody>
          <a:bodyPr wrap="square">
            <a:spAutoFit/>
          </a:bodyPr>
          <a:lstStyle/>
          <a:p>
            <a:pPr>
              <a:spcAft>
                <a:spcPts val="1200"/>
              </a:spcAft>
            </a:pPr>
            <a:r>
              <a:rPr sz="1019">
                <a:solidFill>
                  <a:srgbClr val="1F77B4"/>
                </a:solidFill>
                <a:latin typeface="Arial"/>
              </a:rPr>
              <a:t>■  </a:t>
            </a:r>
            <a:r>
              <a:rPr sz="1700" b="1">
                <a:solidFill>
                  <a:srgbClr val="1F2937"/>
                </a:solidFill>
                <a:latin typeface="Arial"/>
              </a:rPr>
              <a:t>Racemic ibuprofen (IBPRAC04): </a:t>
            </a:r>
            <a:r>
              <a:rPr sz="1700" b="0">
                <a:solidFill>
                  <a:srgbClr val="1F2937"/>
                </a:solidFill>
                <a:latin typeface="Arial"/>
              </a:rPr>
              <a:t>true structure ranks 1,872 of 30,887 (top 6.1%) from a real measured pattern the model never saw</a:t>
            </a:r>
          </a:p>
          <a:p>
            <a:pPr>
              <a:spcAft>
                <a:spcPts val="1200"/>
              </a:spcAft>
            </a:pPr>
            <a:r>
              <a:rPr sz="1019">
                <a:solidFill>
                  <a:srgbClr val="1F77B4"/>
                </a:solidFill>
                <a:latin typeface="Arial"/>
              </a:rPr>
              <a:t>■  </a:t>
            </a:r>
            <a:r>
              <a:rPr sz="1700" b="1">
                <a:solidFill>
                  <a:srgbClr val="1F2937"/>
                </a:solidFill>
                <a:latin typeface="Arial"/>
              </a:rPr>
              <a:t>Phenobarbital Forms I/II: </a:t>
            </a:r>
            <a:r>
              <a:rPr sz="1700" b="0">
                <a:solidFill>
                  <a:srgbClr val="1F2937"/>
                </a:solidFill>
                <a:latin typeface="Arial"/>
              </a:rPr>
              <a:t>the determination is not in the library, so no rank applies; no plausible false match surfaced</a:t>
            </a:r>
          </a:p>
          <a:p>
            <a:pPr>
              <a:spcAft>
                <a:spcPts val="1200"/>
              </a:spcAft>
            </a:pPr>
            <a:r>
              <a:rPr sz="1019">
                <a:solidFill>
                  <a:srgbClr val="1F77B4"/>
                </a:solidFill>
                <a:latin typeface="Arial"/>
              </a:rPr>
              <a:t>■  </a:t>
            </a:r>
            <a:r>
              <a:rPr sz="1700" b="0">
                <a:solidFill>
                  <a:srgbClr val="1F2937"/>
                </a:solidFill>
                <a:latin typeface="Arial"/>
              </a:rPr>
              <a:t>Small N: a spot check, not a benchmark</a:t>
            </a:r>
          </a:p>
        </p:txBody>
      </p:sp>
      <p:sp>
        <p:nvSpPr>
          <p:cNvPr id="9" name="Rounded Rectangle 8"/>
          <p:cNvSpPr/>
          <p:nvPr/>
        </p:nvSpPr>
        <p:spPr>
          <a:xfrm>
            <a:off x="6400800" y="1645920"/>
            <a:ext cx="5257800" cy="502920"/>
          </a:xfrm>
          <a:prstGeom prst="roundRect">
            <a:avLst>
              <a:gd name="adj" fmla="val 12000"/>
            </a:avLst>
          </a:prstGeom>
          <a:solidFill>
            <a:srgbClr val="D627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Arial"/>
              </a:rPr>
              <a:t>Limitations → next steps</a:t>
            </a:r>
          </a:p>
        </p:txBody>
      </p:sp>
      <p:sp>
        <p:nvSpPr>
          <p:cNvPr id="10" name="TextBox 9"/>
          <p:cNvSpPr txBox="1"/>
          <p:nvPr/>
        </p:nvSpPr>
        <p:spPr>
          <a:xfrm>
            <a:off x="6492240" y="2286000"/>
            <a:ext cx="5120640" cy="3474720"/>
          </a:xfrm>
          <a:prstGeom prst="rect">
            <a:avLst/>
          </a:prstGeom>
          <a:noFill/>
        </p:spPr>
        <p:txBody>
          <a:bodyPr wrap="square">
            <a:spAutoFit/>
          </a:bodyPr>
          <a:lstStyle/>
          <a:p>
            <a:pPr>
              <a:spcAft>
                <a:spcPts val="1200"/>
              </a:spcAft>
            </a:pPr>
            <a:r>
              <a:rPr sz="1019">
                <a:solidFill>
                  <a:srgbClr val="1F77B4"/>
                </a:solidFill>
                <a:latin typeface="Arial"/>
              </a:rPr>
              <a:t>■  </a:t>
            </a:r>
            <a:r>
              <a:rPr sz="1700" b="0">
                <a:solidFill>
                  <a:srgbClr val="1F2937"/>
                </a:solidFill>
                <a:latin typeface="Arial"/>
              </a:rPr>
              <a:t>Evaluation is mostly on the physics simulator → scale to tens of real molecular patterns</a:t>
            </a:r>
          </a:p>
          <a:p>
            <a:pPr>
              <a:spcAft>
                <a:spcPts val="1200"/>
              </a:spcAft>
            </a:pPr>
            <a:r>
              <a:rPr sz="1019">
                <a:solidFill>
                  <a:srgbClr val="1F77B4"/>
                </a:solidFill>
                <a:latin typeface="Arial"/>
              </a:rPr>
              <a:t>■  </a:t>
            </a:r>
            <a:r>
              <a:rPr sz="1700" b="0">
                <a:solidFill>
                  <a:srgbClr val="1F2937"/>
                </a:solidFill>
                <a:latin typeface="Arial"/>
              </a:rPr>
              <a:t>Concedes severe broadening to correlation</a:t>
            </a:r>
          </a:p>
          <a:p>
            <a:pPr>
              <a:spcAft>
                <a:spcPts val="1200"/>
              </a:spcAft>
            </a:pPr>
            <a:r>
              <a:rPr sz="1019">
                <a:solidFill>
                  <a:srgbClr val="1F77B4"/>
                </a:solidFill>
                <a:latin typeface="Arial"/>
              </a:rPr>
              <a:t>■  </a:t>
            </a:r>
            <a:r>
              <a:rPr sz="1700" b="0">
                <a:solidFill>
                  <a:srgbClr val="1F2937"/>
                </a:solidFill>
                <a:latin typeface="Arial"/>
              </a:rPr>
              <a:t>Top-1 0.561 leaves headroom → low/high-angle encoder split, Rietveld reranking</a:t>
            </a:r>
          </a:p>
          <a:p>
            <a:pPr>
              <a:spcAft>
                <a:spcPts val="1200"/>
              </a:spcAft>
            </a:pPr>
            <a:r>
              <a:rPr sz="1019">
                <a:solidFill>
                  <a:srgbClr val="1F77B4"/>
                </a:solidFill>
                <a:latin typeface="Arial"/>
              </a:rPr>
              <a:t>■  </a:t>
            </a:r>
            <a:r>
              <a:rPr sz="1700" b="0">
                <a:solidFill>
                  <a:srgbClr val="1F2937"/>
                </a:solidFill>
                <a:latin typeface="Arial"/>
              </a:rPr>
              <a:t>Molecular (CSD) only; inorganic and MOFs are already covered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lIns="45720" rIns="45720">
            <a:spAutoFit/>
          </a:bodyPr>
          <a:lstStyle/>
          <a:p>
            <a:pPr algn="l">
              <a:lnSpc>
                <a:spcPct val="110000"/>
              </a:lnSpc>
            </a:pPr>
            <a:r>
              <a:rPr sz="1400" b="1" i="0">
                <a:solidFill>
                  <a:srgbClr val="1F77B4"/>
                </a:solidFill>
                <a:latin typeface="Arial"/>
              </a:rPr>
              <a:t>CONCLUSION</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lnSpc>
                <a:spcPct val="110000"/>
              </a:lnSpc>
            </a:pPr>
            <a:r>
              <a:rPr sz="3200" b="1" i="0">
                <a:solidFill>
                  <a:srgbClr val="14243D"/>
                </a:solidFill>
                <a:latin typeface="Arial"/>
              </a:rPr>
              <a:t>Takeaways</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lnSpc>
                <a:spcPct val="110000"/>
              </a:lnSpc>
            </a:pPr>
            <a:r>
              <a:rPr sz="1100" b="0" i="0">
                <a:solidFill>
                  <a:srgbClr val="6B7280"/>
                </a:solidFill>
                <a:latin typeface="Arial"/>
              </a:rPr>
              <a:t>Cai · Polymorph-Resolving Retrieval from PXRD · IEEE MIT URTC 2026</a:t>
            </a:r>
          </a:p>
        </p:txBody>
      </p:sp>
      <p:sp>
        <p:nvSpPr>
          <p:cNvPr id="6" name="TextBox 5"/>
          <p:cNvSpPr txBox="1"/>
          <p:nvPr/>
        </p:nvSpPr>
        <p:spPr>
          <a:xfrm>
            <a:off x="10881360" y="6400800"/>
            <a:ext cx="822960" cy="320040"/>
          </a:xfrm>
          <a:prstGeom prst="rect">
            <a:avLst/>
          </a:prstGeom>
          <a:noFill/>
        </p:spPr>
        <p:txBody>
          <a:bodyPr wrap="square" anchor="t" lIns="45720" rIns="45720">
            <a:spAutoFit/>
          </a:bodyPr>
          <a:lstStyle/>
          <a:p>
            <a:pPr algn="r">
              <a:lnSpc>
                <a:spcPct val="110000"/>
              </a:lnSpc>
            </a:pPr>
            <a:r>
              <a:rPr sz="1100" b="0" i="0">
                <a:solidFill>
                  <a:srgbClr val="6B7280"/>
                </a:solidFill>
                <a:latin typeface="Arial"/>
              </a:rPr>
              <a:t>11 / 11</a:t>
            </a:r>
          </a:p>
        </p:txBody>
      </p:sp>
      <p:sp>
        <p:nvSpPr>
          <p:cNvPr id="7" name="Rectangle 6"/>
          <p:cNvSpPr/>
          <p:nvPr/>
        </p:nvSpPr>
        <p:spPr>
          <a:xfrm>
            <a:off x="548640" y="1691640"/>
            <a:ext cx="3520440" cy="10972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3520440" cy="548640"/>
          </a:xfrm>
          <a:prstGeom prst="rect">
            <a:avLst/>
          </a:prstGeom>
          <a:noFill/>
        </p:spPr>
        <p:txBody>
          <a:bodyPr wrap="square" anchor="t" lIns="45720" rIns="45720">
            <a:spAutoFit/>
          </a:bodyPr>
          <a:lstStyle/>
          <a:p>
            <a:pPr algn="l">
              <a:lnSpc>
                <a:spcPct val="110000"/>
              </a:lnSpc>
            </a:pPr>
            <a:r>
              <a:rPr sz="2200" b="1" i="0">
                <a:solidFill>
                  <a:srgbClr val="1F77B4"/>
                </a:solidFill>
                <a:latin typeface="Arial"/>
              </a:rPr>
              <a:t>New task</a:t>
            </a:r>
          </a:p>
        </p:txBody>
      </p:sp>
      <p:sp>
        <p:nvSpPr>
          <p:cNvPr id="9" name="TextBox 8"/>
          <p:cNvSpPr txBox="1"/>
          <p:nvPr/>
        </p:nvSpPr>
        <p:spPr>
          <a:xfrm>
            <a:off x="548640" y="2514600"/>
            <a:ext cx="3520440" cy="2194560"/>
          </a:xfrm>
          <a:prstGeom prst="rect">
            <a:avLst/>
          </a:prstGeom>
          <a:noFill/>
        </p:spPr>
        <p:txBody>
          <a:bodyPr wrap="square" anchor="t" lIns="45720" rIns="45720">
            <a:spAutoFit/>
          </a:bodyPr>
          <a:lstStyle/>
          <a:p>
            <a:pPr algn="l">
              <a:lnSpc>
                <a:spcPct val="110000"/>
              </a:lnSpc>
            </a:pPr>
            <a:r>
              <a:rPr sz="1700" b="0" i="0">
                <a:solidFill>
                  <a:srgbClr val="1F2937"/>
                </a:solidFill>
                <a:latin typeface="Arial"/>
              </a:rPr>
              <a:t>Polymorph-resolving PXRD retrieval on CSD molecular crystals, where composition/symmetry methods are at chance by construction</a:t>
            </a:r>
          </a:p>
        </p:txBody>
      </p:sp>
      <p:sp>
        <p:nvSpPr>
          <p:cNvPr id="10" name="Rectangle 9"/>
          <p:cNvSpPr/>
          <p:nvPr/>
        </p:nvSpPr>
        <p:spPr>
          <a:xfrm>
            <a:off x="4297679" y="1691640"/>
            <a:ext cx="3520440" cy="109728"/>
          </a:xfrm>
          <a:prstGeom prst="rect">
            <a:avLst/>
          </a:prstGeom>
          <a:solidFill>
            <a:srgbClr val="14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79" y="1920240"/>
            <a:ext cx="3520440" cy="548640"/>
          </a:xfrm>
          <a:prstGeom prst="rect">
            <a:avLst/>
          </a:prstGeom>
          <a:noFill/>
        </p:spPr>
        <p:txBody>
          <a:bodyPr wrap="square" anchor="t" lIns="45720" rIns="45720">
            <a:spAutoFit/>
          </a:bodyPr>
          <a:lstStyle/>
          <a:p>
            <a:pPr algn="l">
              <a:lnSpc>
                <a:spcPct val="110000"/>
              </a:lnSpc>
            </a:pPr>
            <a:r>
              <a:rPr sz="2200" b="1" i="0">
                <a:solidFill>
                  <a:srgbClr val="14243D"/>
                </a:solidFill>
                <a:latin typeface="Arial"/>
              </a:rPr>
              <a:t>Robust result</a:t>
            </a:r>
          </a:p>
        </p:txBody>
      </p:sp>
      <p:sp>
        <p:nvSpPr>
          <p:cNvPr id="12" name="TextBox 11"/>
          <p:cNvSpPr txBox="1"/>
          <p:nvPr/>
        </p:nvSpPr>
        <p:spPr>
          <a:xfrm>
            <a:off x="4297679" y="2514600"/>
            <a:ext cx="3520440" cy="2194560"/>
          </a:xfrm>
          <a:prstGeom prst="rect">
            <a:avLst/>
          </a:prstGeom>
          <a:noFill/>
        </p:spPr>
        <p:txBody>
          <a:bodyPr wrap="square" anchor="t" lIns="45720" rIns="45720">
            <a:spAutoFit/>
          </a:bodyPr>
          <a:lstStyle/>
          <a:p>
            <a:pPr algn="l">
              <a:lnSpc>
                <a:spcPct val="110000"/>
              </a:lnSpc>
            </a:pPr>
            <a:r>
              <a:rPr sz="1700" b="0" i="0">
                <a:solidFill>
                  <a:srgbClr val="1F2937"/>
                </a:solidFill>
                <a:latin typeface="Arial"/>
              </a:rPr>
              <a:t>0.561 vs 0.380 chance, and it holds under peak shifts that send classical search-match to chance, whatever their sign</a:t>
            </a:r>
          </a:p>
        </p:txBody>
      </p:sp>
      <p:sp>
        <p:nvSpPr>
          <p:cNvPr id="13" name="Rectangle 12"/>
          <p:cNvSpPr/>
          <p:nvPr/>
        </p:nvSpPr>
        <p:spPr>
          <a:xfrm>
            <a:off x="8046719" y="1691640"/>
            <a:ext cx="3520440" cy="109728"/>
          </a:xfrm>
          <a:prstGeom prst="rect">
            <a:avLst/>
          </a:prstGeom>
          <a:solidFill>
            <a:srgbClr val="D627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9" y="1920240"/>
            <a:ext cx="3520440" cy="548640"/>
          </a:xfrm>
          <a:prstGeom prst="rect">
            <a:avLst/>
          </a:prstGeom>
          <a:noFill/>
        </p:spPr>
        <p:txBody>
          <a:bodyPr wrap="square" anchor="t" lIns="45720" rIns="45720">
            <a:spAutoFit/>
          </a:bodyPr>
          <a:lstStyle/>
          <a:p>
            <a:pPr algn="l">
              <a:lnSpc>
                <a:spcPct val="110000"/>
              </a:lnSpc>
            </a:pPr>
            <a:r>
              <a:rPr sz="2200" b="1" i="0">
                <a:solidFill>
                  <a:srgbClr val="D62728"/>
                </a:solidFill>
                <a:latin typeface="Arial"/>
              </a:rPr>
              <a:t>Understood mechanism</a:t>
            </a:r>
          </a:p>
        </p:txBody>
      </p:sp>
      <p:sp>
        <p:nvSpPr>
          <p:cNvPr id="15" name="TextBox 14"/>
          <p:cNvSpPr txBox="1"/>
          <p:nvPr/>
        </p:nvSpPr>
        <p:spPr>
          <a:xfrm>
            <a:off x="8046719" y="2514600"/>
            <a:ext cx="3520440" cy="2194560"/>
          </a:xfrm>
          <a:prstGeom prst="rect">
            <a:avLst/>
          </a:prstGeom>
          <a:noFill/>
        </p:spPr>
        <p:txBody>
          <a:bodyPr wrap="square" anchor="t" lIns="45720" rIns="45720">
            <a:spAutoFit/>
          </a:bodyPr>
          <a:lstStyle/>
          <a:p>
            <a:pPr algn="l">
              <a:lnSpc>
                <a:spcPct val="110000"/>
              </a:lnSpc>
            </a:pPr>
            <a:r>
              <a:rPr sz="1700" b="0" i="0">
                <a:solidFill>
                  <a:srgbClr val="1F2937"/>
                </a:solidFill>
                <a:latin typeface="Arial"/>
              </a:rPr>
              <a:t>Shift invariance is architectural; instrument-profile robustness is learned from physics-based augmentation, not leakage</a:t>
            </a:r>
          </a:p>
        </p:txBody>
      </p:sp>
      <p:sp>
        <p:nvSpPr>
          <p:cNvPr id="16" name="Rounded Rectangle 15"/>
          <p:cNvSpPr/>
          <p:nvPr/>
        </p:nvSpPr>
        <p:spPr>
          <a:xfrm>
            <a:off x="548640" y="4846320"/>
            <a:ext cx="11109960" cy="1234440"/>
          </a:xfrm>
          <a:prstGeom prst="roundRect">
            <a:avLst>
              <a:gd name="adj" fmla="val 12000"/>
            </a:avLst>
          </a:prstGeom>
          <a:solidFill>
            <a:srgbClr val="14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a:rPr>
              <a:t>Thank you. Questions?</a:t>
            </a:r>
          </a:p>
          <a:p>
            <a:pPr algn="ctr"/>
            <a:r>
              <a:rPr sz="1600" b="0">
                <a:solidFill>
                  <a:srgbClr val="FFFFFF"/>
                </a:solidFill>
                <a:latin typeface="Arial"/>
              </a:rPr>
              <a:t>Frank Cai · frankyc11223@gmail.com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